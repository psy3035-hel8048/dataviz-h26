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8" r:id="rId2"/>
    <p:sldId id="295" r:id="rId3"/>
    <p:sldId id="261" r:id="rId4"/>
    <p:sldId id="260" r:id="rId5"/>
    <p:sldId id="266" r:id="rId6"/>
    <p:sldId id="267" r:id="rId7"/>
    <p:sldId id="268" r:id="rId8"/>
    <p:sldId id="297" r:id="rId9"/>
    <p:sldId id="298" r:id="rId10"/>
    <p:sldId id="299" r:id="rId11"/>
    <p:sldId id="300" r:id="rId12"/>
    <p:sldId id="301" r:id="rId13"/>
    <p:sldId id="302" r:id="rId14"/>
    <p:sldId id="296" r:id="rId15"/>
    <p:sldId id="279" r:id="rId16"/>
    <p:sldId id="280" r:id="rId17"/>
    <p:sldId id="290" r:id="rId18"/>
    <p:sldId id="292" r:id="rId19"/>
    <p:sldId id="293" r:id="rId20"/>
    <p:sldId id="291" r:id="rId21"/>
    <p:sldId id="294" r:id="rId22"/>
    <p:sldId id="281" r:id="rId23"/>
    <p:sldId id="259" r:id="rId24"/>
    <p:sldId id="262" r:id="rId25"/>
    <p:sldId id="264" r:id="rId26"/>
    <p:sldId id="263" r:id="rId27"/>
    <p:sldId id="265" r:id="rId28"/>
    <p:sldId id="270" r:id="rId29"/>
    <p:sldId id="271" r:id="rId30"/>
    <p:sldId id="269" r:id="rId31"/>
    <p:sldId id="272" r:id="rId32"/>
    <p:sldId id="273" r:id="rId33"/>
    <p:sldId id="274" r:id="rId34"/>
    <p:sldId id="275" r:id="rId35"/>
    <p:sldId id="277" r:id="rId36"/>
    <p:sldId id="276" r:id="rId37"/>
    <p:sldId id="278" r:id="rId38"/>
    <p:sldId id="282" r:id="rId39"/>
    <p:sldId id="283" r:id="rId40"/>
    <p:sldId id="284" r:id="rId41"/>
    <p:sldId id="287" r:id="rId42"/>
    <p:sldId id="285" r:id="rId43"/>
    <p:sldId id="288" r:id="rId44"/>
    <p:sldId id="286" r:id="rId45"/>
    <p:sldId id="289" r:id="rId46"/>
  </p:sldIdLst>
  <p:sldSz cx="12192000" cy="6858000"/>
  <p:notesSz cx="6858000" cy="9144000"/>
  <p:embeddedFontLst>
    <p:embeddedFont>
      <p:font typeface="Consolas" panose="020B0609020204030204" pitchFamily="49" charset="0"/>
      <p:regular r:id="rId47"/>
      <p:bold r:id="rId48"/>
      <p:italic r:id="rId49"/>
      <p:boldItalic r:id="rId50"/>
    </p:embeddedFont>
    <p:embeddedFont>
      <p:font typeface="Gameplay" panose="00000400000000000000" pitchFamily="2" charset="0"/>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18ED3B-FF5B-4351-B332-F09A0143C264}" v="13" dt="2026-09-14T12:02:44.7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84393" autoAdjust="0"/>
  </p:normalViewPr>
  <p:slideViewPr>
    <p:cSldViewPr snapToGrid="0">
      <p:cViewPr varScale="1">
        <p:scale>
          <a:sx n="71" d="100"/>
          <a:sy n="71" d="100"/>
        </p:scale>
        <p:origin x="164" y="5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Edgar McCutcheon" userId="7f873ef2-5165-4f07-9a0f-a18721295519" providerId="ADAL" clId="{042E2793-3DC5-4CE9-BA91-01603716AA59}"/>
    <pc:docChg chg="custSel addSld delSld modSld">
      <pc:chgData name="James Edgar McCutcheon" userId="7f873ef2-5165-4f07-9a0f-a18721295519" providerId="ADAL" clId="{042E2793-3DC5-4CE9-BA91-01603716AA59}" dt="2026-09-14T12:02:58.519" v="292" actId="14100"/>
      <pc:docMkLst>
        <pc:docMk/>
      </pc:docMkLst>
      <pc:sldChg chg="add">
        <pc:chgData name="James Edgar McCutcheon" userId="7f873ef2-5165-4f07-9a0f-a18721295519" providerId="ADAL" clId="{042E2793-3DC5-4CE9-BA91-01603716AA59}" dt="2026-09-14T06:29:27.945" v="0"/>
        <pc:sldMkLst>
          <pc:docMk/>
          <pc:sldMk cId="3089924604" sldId="260"/>
        </pc:sldMkLst>
      </pc:sldChg>
      <pc:sldChg chg="add">
        <pc:chgData name="James Edgar McCutcheon" userId="7f873ef2-5165-4f07-9a0f-a18721295519" providerId="ADAL" clId="{042E2793-3DC5-4CE9-BA91-01603716AA59}" dt="2026-09-14T06:29:27.945" v="0"/>
        <pc:sldMkLst>
          <pc:docMk/>
          <pc:sldMk cId="1923821629" sldId="261"/>
        </pc:sldMkLst>
      </pc:sldChg>
      <pc:sldChg chg="add">
        <pc:chgData name="James Edgar McCutcheon" userId="7f873ef2-5165-4f07-9a0f-a18721295519" providerId="ADAL" clId="{042E2793-3DC5-4CE9-BA91-01603716AA59}" dt="2026-09-14T06:29:27.945" v="0"/>
        <pc:sldMkLst>
          <pc:docMk/>
          <pc:sldMk cId="1657094280" sldId="266"/>
        </pc:sldMkLst>
      </pc:sldChg>
      <pc:sldChg chg="add">
        <pc:chgData name="James Edgar McCutcheon" userId="7f873ef2-5165-4f07-9a0f-a18721295519" providerId="ADAL" clId="{042E2793-3DC5-4CE9-BA91-01603716AA59}" dt="2026-09-14T06:29:27.945" v="0"/>
        <pc:sldMkLst>
          <pc:docMk/>
          <pc:sldMk cId="2068819702" sldId="267"/>
        </pc:sldMkLst>
      </pc:sldChg>
      <pc:sldChg chg="addSp delSp modSp add mod">
        <pc:chgData name="James Edgar McCutcheon" userId="7f873ef2-5165-4f07-9a0f-a18721295519" providerId="ADAL" clId="{042E2793-3DC5-4CE9-BA91-01603716AA59}" dt="2026-09-14T11:55:21.960" v="168" actId="478"/>
        <pc:sldMkLst>
          <pc:docMk/>
          <pc:sldMk cId="2334323525" sldId="268"/>
        </pc:sldMkLst>
        <pc:spChg chg="del">
          <ac:chgData name="James Edgar McCutcheon" userId="7f873ef2-5165-4f07-9a0f-a18721295519" providerId="ADAL" clId="{042E2793-3DC5-4CE9-BA91-01603716AA59}" dt="2026-09-14T11:55:18.512" v="167" actId="478"/>
          <ac:spMkLst>
            <pc:docMk/>
            <pc:sldMk cId="2334323525" sldId="268"/>
            <ac:spMk id="3" creationId="{0EF57EA8-CAF6-2D8C-9634-17C8AAFF1A4A}"/>
          </ac:spMkLst>
        </pc:spChg>
        <pc:spChg chg="del">
          <ac:chgData name="James Edgar McCutcheon" userId="7f873ef2-5165-4f07-9a0f-a18721295519" providerId="ADAL" clId="{042E2793-3DC5-4CE9-BA91-01603716AA59}" dt="2026-09-14T11:55:16.615" v="166" actId="478"/>
          <ac:spMkLst>
            <pc:docMk/>
            <pc:sldMk cId="2334323525" sldId="268"/>
            <ac:spMk id="5" creationId="{DF5F17D5-C2BF-BDA1-99A9-4DEB8F6EE4B8}"/>
          </ac:spMkLst>
        </pc:spChg>
        <pc:spChg chg="add del mod">
          <ac:chgData name="James Edgar McCutcheon" userId="7f873ef2-5165-4f07-9a0f-a18721295519" providerId="ADAL" clId="{042E2793-3DC5-4CE9-BA91-01603716AA59}" dt="2026-09-14T11:55:21.960" v="168" actId="478"/>
          <ac:spMkLst>
            <pc:docMk/>
            <pc:sldMk cId="2334323525" sldId="268"/>
            <ac:spMk id="7" creationId="{CE668D0C-37CC-CF64-A673-ADFC09FFE8D7}"/>
          </ac:spMkLst>
        </pc:spChg>
      </pc:sldChg>
      <pc:sldChg chg="add">
        <pc:chgData name="James Edgar McCutcheon" userId="7f873ef2-5165-4f07-9a0f-a18721295519" providerId="ADAL" clId="{042E2793-3DC5-4CE9-BA91-01603716AA59}" dt="2026-09-14T06:29:27.945" v="0"/>
        <pc:sldMkLst>
          <pc:docMk/>
          <pc:sldMk cId="167888894" sldId="279"/>
        </pc:sldMkLst>
      </pc:sldChg>
      <pc:sldChg chg="add">
        <pc:chgData name="James Edgar McCutcheon" userId="7f873ef2-5165-4f07-9a0f-a18721295519" providerId="ADAL" clId="{042E2793-3DC5-4CE9-BA91-01603716AA59}" dt="2026-09-14T06:29:27.945" v="0"/>
        <pc:sldMkLst>
          <pc:docMk/>
          <pc:sldMk cId="668717160" sldId="280"/>
        </pc:sldMkLst>
      </pc:sldChg>
      <pc:sldChg chg="add">
        <pc:chgData name="James Edgar McCutcheon" userId="7f873ef2-5165-4f07-9a0f-a18721295519" providerId="ADAL" clId="{042E2793-3DC5-4CE9-BA91-01603716AA59}" dt="2026-09-14T06:31:50.184" v="164"/>
        <pc:sldMkLst>
          <pc:docMk/>
          <pc:sldMk cId="3518637158" sldId="281"/>
        </pc:sldMkLst>
      </pc:sldChg>
      <pc:sldChg chg="del">
        <pc:chgData name="James Edgar McCutcheon" userId="7f873ef2-5165-4f07-9a0f-a18721295519" providerId="ADAL" clId="{042E2793-3DC5-4CE9-BA91-01603716AA59}" dt="2026-09-14T06:31:40.999" v="163" actId="2696"/>
        <pc:sldMkLst>
          <pc:docMk/>
          <pc:sldMk cId="3998946067" sldId="281"/>
        </pc:sldMkLst>
      </pc:sldChg>
      <pc:sldChg chg="add">
        <pc:chgData name="James Edgar McCutcheon" userId="7f873ef2-5165-4f07-9a0f-a18721295519" providerId="ADAL" clId="{042E2793-3DC5-4CE9-BA91-01603716AA59}" dt="2026-09-14T06:31:10.657" v="162"/>
        <pc:sldMkLst>
          <pc:docMk/>
          <pc:sldMk cId="2909895110" sldId="282"/>
        </pc:sldMkLst>
      </pc:sldChg>
      <pc:sldChg chg="add del">
        <pc:chgData name="James Edgar McCutcheon" userId="7f873ef2-5165-4f07-9a0f-a18721295519" providerId="ADAL" clId="{042E2793-3DC5-4CE9-BA91-01603716AA59}" dt="2026-09-14T06:31:04.724" v="161" actId="2696"/>
        <pc:sldMkLst>
          <pc:docMk/>
          <pc:sldMk cId="4176401137" sldId="282"/>
        </pc:sldMkLst>
      </pc:sldChg>
      <pc:sldChg chg="add">
        <pc:chgData name="James Edgar McCutcheon" userId="7f873ef2-5165-4f07-9a0f-a18721295519" providerId="ADAL" clId="{042E2793-3DC5-4CE9-BA91-01603716AA59}" dt="2026-09-14T06:31:10.657" v="162"/>
        <pc:sldMkLst>
          <pc:docMk/>
          <pc:sldMk cId="55512705" sldId="283"/>
        </pc:sldMkLst>
      </pc:sldChg>
      <pc:sldChg chg="add del">
        <pc:chgData name="James Edgar McCutcheon" userId="7f873ef2-5165-4f07-9a0f-a18721295519" providerId="ADAL" clId="{042E2793-3DC5-4CE9-BA91-01603716AA59}" dt="2026-09-14T06:31:04.724" v="161" actId="2696"/>
        <pc:sldMkLst>
          <pc:docMk/>
          <pc:sldMk cId="4043392918" sldId="283"/>
        </pc:sldMkLst>
      </pc:sldChg>
      <pc:sldChg chg="add del">
        <pc:chgData name="James Edgar McCutcheon" userId="7f873ef2-5165-4f07-9a0f-a18721295519" providerId="ADAL" clId="{042E2793-3DC5-4CE9-BA91-01603716AA59}" dt="2026-09-14T06:31:04.724" v="161" actId="2696"/>
        <pc:sldMkLst>
          <pc:docMk/>
          <pc:sldMk cId="1112613720" sldId="284"/>
        </pc:sldMkLst>
      </pc:sldChg>
      <pc:sldChg chg="add">
        <pc:chgData name="James Edgar McCutcheon" userId="7f873ef2-5165-4f07-9a0f-a18721295519" providerId="ADAL" clId="{042E2793-3DC5-4CE9-BA91-01603716AA59}" dt="2026-09-14T06:31:10.657" v="162"/>
        <pc:sldMkLst>
          <pc:docMk/>
          <pc:sldMk cId="2553496382" sldId="284"/>
        </pc:sldMkLst>
      </pc:sldChg>
      <pc:sldChg chg="add del">
        <pc:chgData name="James Edgar McCutcheon" userId="7f873ef2-5165-4f07-9a0f-a18721295519" providerId="ADAL" clId="{042E2793-3DC5-4CE9-BA91-01603716AA59}" dt="2026-09-14T06:31:04.724" v="161" actId="2696"/>
        <pc:sldMkLst>
          <pc:docMk/>
          <pc:sldMk cId="1933090834" sldId="285"/>
        </pc:sldMkLst>
      </pc:sldChg>
      <pc:sldChg chg="add">
        <pc:chgData name="James Edgar McCutcheon" userId="7f873ef2-5165-4f07-9a0f-a18721295519" providerId="ADAL" clId="{042E2793-3DC5-4CE9-BA91-01603716AA59}" dt="2026-09-14T06:31:10.657" v="162"/>
        <pc:sldMkLst>
          <pc:docMk/>
          <pc:sldMk cId="3528201356" sldId="285"/>
        </pc:sldMkLst>
      </pc:sldChg>
      <pc:sldChg chg="add">
        <pc:chgData name="James Edgar McCutcheon" userId="7f873ef2-5165-4f07-9a0f-a18721295519" providerId="ADAL" clId="{042E2793-3DC5-4CE9-BA91-01603716AA59}" dt="2026-09-14T06:31:10.657" v="162"/>
        <pc:sldMkLst>
          <pc:docMk/>
          <pc:sldMk cId="1119946716" sldId="286"/>
        </pc:sldMkLst>
      </pc:sldChg>
      <pc:sldChg chg="add del">
        <pc:chgData name="James Edgar McCutcheon" userId="7f873ef2-5165-4f07-9a0f-a18721295519" providerId="ADAL" clId="{042E2793-3DC5-4CE9-BA91-01603716AA59}" dt="2026-09-14T06:31:04.724" v="161" actId="2696"/>
        <pc:sldMkLst>
          <pc:docMk/>
          <pc:sldMk cId="3312504110" sldId="286"/>
        </pc:sldMkLst>
      </pc:sldChg>
      <pc:sldChg chg="add">
        <pc:chgData name="James Edgar McCutcheon" userId="7f873ef2-5165-4f07-9a0f-a18721295519" providerId="ADAL" clId="{042E2793-3DC5-4CE9-BA91-01603716AA59}" dt="2026-09-14T06:31:10.657" v="162"/>
        <pc:sldMkLst>
          <pc:docMk/>
          <pc:sldMk cId="783705435" sldId="287"/>
        </pc:sldMkLst>
      </pc:sldChg>
      <pc:sldChg chg="add del">
        <pc:chgData name="James Edgar McCutcheon" userId="7f873ef2-5165-4f07-9a0f-a18721295519" providerId="ADAL" clId="{042E2793-3DC5-4CE9-BA91-01603716AA59}" dt="2026-09-14T06:31:04.724" v="161" actId="2696"/>
        <pc:sldMkLst>
          <pc:docMk/>
          <pc:sldMk cId="2854527691" sldId="287"/>
        </pc:sldMkLst>
      </pc:sldChg>
      <pc:sldChg chg="add del">
        <pc:chgData name="James Edgar McCutcheon" userId="7f873ef2-5165-4f07-9a0f-a18721295519" providerId="ADAL" clId="{042E2793-3DC5-4CE9-BA91-01603716AA59}" dt="2026-09-14T06:31:04.724" v="161" actId="2696"/>
        <pc:sldMkLst>
          <pc:docMk/>
          <pc:sldMk cId="1057334273" sldId="288"/>
        </pc:sldMkLst>
      </pc:sldChg>
      <pc:sldChg chg="add">
        <pc:chgData name="James Edgar McCutcheon" userId="7f873ef2-5165-4f07-9a0f-a18721295519" providerId="ADAL" clId="{042E2793-3DC5-4CE9-BA91-01603716AA59}" dt="2026-09-14T06:31:10.657" v="162"/>
        <pc:sldMkLst>
          <pc:docMk/>
          <pc:sldMk cId="4175380680" sldId="288"/>
        </pc:sldMkLst>
      </pc:sldChg>
      <pc:sldChg chg="add">
        <pc:chgData name="James Edgar McCutcheon" userId="7f873ef2-5165-4f07-9a0f-a18721295519" providerId="ADAL" clId="{042E2793-3DC5-4CE9-BA91-01603716AA59}" dt="2026-09-14T06:31:10.657" v="162"/>
        <pc:sldMkLst>
          <pc:docMk/>
          <pc:sldMk cId="245177768" sldId="289"/>
        </pc:sldMkLst>
      </pc:sldChg>
      <pc:sldChg chg="add del">
        <pc:chgData name="James Edgar McCutcheon" userId="7f873ef2-5165-4f07-9a0f-a18721295519" providerId="ADAL" clId="{042E2793-3DC5-4CE9-BA91-01603716AA59}" dt="2026-09-14T06:31:04.724" v="161" actId="2696"/>
        <pc:sldMkLst>
          <pc:docMk/>
          <pc:sldMk cId="2600938754" sldId="289"/>
        </pc:sldMkLst>
      </pc:sldChg>
      <pc:sldChg chg="add">
        <pc:chgData name="James Edgar McCutcheon" userId="7f873ef2-5165-4f07-9a0f-a18721295519" providerId="ADAL" clId="{042E2793-3DC5-4CE9-BA91-01603716AA59}" dt="2026-09-14T06:29:27.945" v="0"/>
        <pc:sldMkLst>
          <pc:docMk/>
          <pc:sldMk cId="3259090271" sldId="290"/>
        </pc:sldMkLst>
      </pc:sldChg>
      <pc:sldChg chg="add">
        <pc:chgData name="James Edgar McCutcheon" userId="7f873ef2-5165-4f07-9a0f-a18721295519" providerId="ADAL" clId="{042E2793-3DC5-4CE9-BA91-01603716AA59}" dt="2026-09-14T06:29:27.945" v="0"/>
        <pc:sldMkLst>
          <pc:docMk/>
          <pc:sldMk cId="2465686266" sldId="291"/>
        </pc:sldMkLst>
      </pc:sldChg>
      <pc:sldChg chg="add">
        <pc:chgData name="James Edgar McCutcheon" userId="7f873ef2-5165-4f07-9a0f-a18721295519" providerId="ADAL" clId="{042E2793-3DC5-4CE9-BA91-01603716AA59}" dt="2026-09-14T06:29:27.945" v="0"/>
        <pc:sldMkLst>
          <pc:docMk/>
          <pc:sldMk cId="1649790408" sldId="292"/>
        </pc:sldMkLst>
      </pc:sldChg>
      <pc:sldChg chg="add">
        <pc:chgData name="James Edgar McCutcheon" userId="7f873ef2-5165-4f07-9a0f-a18721295519" providerId="ADAL" clId="{042E2793-3DC5-4CE9-BA91-01603716AA59}" dt="2026-09-14T06:29:27.945" v="0"/>
        <pc:sldMkLst>
          <pc:docMk/>
          <pc:sldMk cId="3956939747" sldId="293"/>
        </pc:sldMkLst>
      </pc:sldChg>
      <pc:sldChg chg="add">
        <pc:chgData name="James Edgar McCutcheon" userId="7f873ef2-5165-4f07-9a0f-a18721295519" providerId="ADAL" clId="{042E2793-3DC5-4CE9-BA91-01603716AA59}" dt="2026-09-14T06:29:27.945" v="0"/>
        <pc:sldMkLst>
          <pc:docMk/>
          <pc:sldMk cId="1305438320" sldId="294"/>
        </pc:sldMkLst>
      </pc:sldChg>
      <pc:sldChg chg="modSp new mod">
        <pc:chgData name="James Edgar McCutcheon" userId="7f873ef2-5165-4f07-9a0f-a18721295519" providerId="ADAL" clId="{042E2793-3DC5-4CE9-BA91-01603716AA59}" dt="2026-09-14T06:30:51.817" v="160" actId="114"/>
        <pc:sldMkLst>
          <pc:docMk/>
          <pc:sldMk cId="596623225" sldId="295"/>
        </pc:sldMkLst>
        <pc:spChg chg="mod">
          <ac:chgData name="James Edgar McCutcheon" userId="7f873ef2-5165-4f07-9a0f-a18721295519" providerId="ADAL" clId="{042E2793-3DC5-4CE9-BA91-01603716AA59}" dt="2026-09-14T06:29:52.574" v="46" actId="20577"/>
          <ac:spMkLst>
            <pc:docMk/>
            <pc:sldMk cId="596623225" sldId="295"/>
            <ac:spMk id="2" creationId="{8E529556-C663-D717-2C87-59A5541221C6}"/>
          </ac:spMkLst>
        </pc:spChg>
        <pc:spChg chg="mod">
          <ac:chgData name="James Edgar McCutcheon" userId="7f873ef2-5165-4f07-9a0f-a18721295519" providerId="ADAL" clId="{042E2793-3DC5-4CE9-BA91-01603716AA59}" dt="2026-09-14T06:30:51.817" v="160" actId="114"/>
          <ac:spMkLst>
            <pc:docMk/>
            <pc:sldMk cId="596623225" sldId="295"/>
            <ac:spMk id="3" creationId="{0971C568-B0FB-4494-8440-11E935937EBA}"/>
          </ac:spMkLst>
        </pc:spChg>
      </pc:sldChg>
      <pc:sldChg chg="add">
        <pc:chgData name="James Edgar McCutcheon" userId="7f873ef2-5165-4f07-9a0f-a18721295519" providerId="ADAL" clId="{042E2793-3DC5-4CE9-BA91-01603716AA59}" dt="2026-09-14T11:54:50.715" v="165"/>
        <pc:sldMkLst>
          <pc:docMk/>
          <pc:sldMk cId="3161424035" sldId="296"/>
        </pc:sldMkLst>
      </pc:sldChg>
      <pc:sldChg chg="addSp modSp add mod">
        <pc:chgData name="James Edgar McCutcheon" userId="7f873ef2-5165-4f07-9a0f-a18721295519" providerId="ADAL" clId="{042E2793-3DC5-4CE9-BA91-01603716AA59}" dt="2026-09-14T12:00:22.844" v="260" actId="1076"/>
        <pc:sldMkLst>
          <pc:docMk/>
          <pc:sldMk cId="1845003552" sldId="297"/>
        </pc:sldMkLst>
        <pc:spChg chg="mod">
          <ac:chgData name="James Edgar McCutcheon" userId="7f873ef2-5165-4f07-9a0f-a18721295519" providerId="ADAL" clId="{042E2793-3DC5-4CE9-BA91-01603716AA59}" dt="2026-09-14T11:55:39.572" v="181" actId="20577"/>
          <ac:spMkLst>
            <pc:docMk/>
            <pc:sldMk cId="1845003552" sldId="297"/>
            <ac:spMk id="2" creationId="{38DA010D-DD38-A15D-3E40-16ECE4B50FE0}"/>
          </ac:spMkLst>
        </pc:spChg>
        <pc:spChg chg="mod">
          <ac:chgData name="James Edgar McCutcheon" userId="7f873ef2-5165-4f07-9a0f-a18721295519" providerId="ADAL" clId="{042E2793-3DC5-4CE9-BA91-01603716AA59}" dt="2026-09-14T11:56:06.318" v="255" actId="14100"/>
          <ac:spMkLst>
            <pc:docMk/>
            <pc:sldMk cId="1845003552" sldId="297"/>
            <ac:spMk id="4" creationId="{B70BA50D-C921-D084-B9B3-73F8336790C8}"/>
          </ac:spMkLst>
        </pc:spChg>
        <pc:picChg chg="add mod">
          <ac:chgData name="James Edgar McCutcheon" userId="7f873ef2-5165-4f07-9a0f-a18721295519" providerId="ADAL" clId="{042E2793-3DC5-4CE9-BA91-01603716AA59}" dt="2026-09-14T12:00:22.844" v="260" actId="1076"/>
          <ac:picMkLst>
            <pc:docMk/>
            <pc:sldMk cId="1845003552" sldId="297"/>
            <ac:picMk id="5" creationId="{24A749A4-9E9D-E67B-15A7-DCD6B22B5651}"/>
          </ac:picMkLst>
        </pc:picChg>
      </pc:sldChg>
      <pc:sldChg chg="addSp delSp modSp add mod delAnim modAnim">
        <pc:chgData name="James Edgar McCutcheon" userId="7f873ef2-5165-4f07-9a0f-a18721295519" providerId="ADAL" clId="{042E2793-3DC5-4CE9-BA91-01603716AA59}" dt="2026-09-14T12:01:48.595" v="274" actId="478"/>
        <pc:sldMkLst>
          <pc:docMk/>
          <pc:sldMk cId="3332269789" sldId="298"/>
        </pc:sldMkLst>
        <pc:spChg chg="del">
          <ac:chgData name="James Edgar McCutcheon" userId="7f873ef2-5165-4f07-9a0f-a18721295519" providerId="ADAL" clId="{042E2793-3DC5-4CE9-BA91-01603716AA59}" dt="2026-09-14T12:00:32.967" v="262" actId="478"/>
          <ac:spMkLst>
            <pc:docMk/>
            <pc:sldMk cId="3332269789" sldId="298"/>
            <ac:spMk id="2" creationId="{6BAE45ED-388C-838B-7B3E-F3623F38589F}"/>
          </ac:spMkLst>
        </pc:spChg>
        <pc:spChg chg="del">
          <ac:chgData name="James Edgar McCutcheon" userId="7f873ef2-5165-4f07-9a0f-a18721295519" providerId="ADAL" clId="{042E2793-3DC5-4CE9-BA91-01603716AA59}" dt="2026-09-14T12:00:36.399" v="264" actId="478"/>
          <ac:spMkLst>
            <pc:docMk/>
            <pc:sldMk cId="3332269789" sldId="298"/>
            <ac:spMk id="4" creationId="{3380F6FD-2146-B15F-E8DA-C48476C022A0}"/>
          </ac:spMkLst>
        </pc:spChg>
        <pc:spChg chg="add del mod">
          <ac:chgData name="James Edgar McCutcheon" userId="7f873ef2-5165-4f07-9a0f-a18721295519" providerId="ADAL" clId="{042E2793-3DC5-4CE9-BA91-01603716AA59}" dt="2026-09-14T12:00:35.227" v="263" actId="478"/>
          <ac:spMkLst>
            <pc:docMk/>
            <pc:sldMk cId="3332269789" sldId="298"/>
            <ac:spMk id="6" creationId="{C0E0267A-6438-B1DC-9E05-4D857FA73929}"/>
          </ac:spMkLst>
        </pc:spChg>
        <pc:spChg chg="add mod">
          <ac:chgData name="James Edgar McCutcheon" userId="7f873ef2-5165-4f07-9a0f-a18721295519" providerId="ADAL" clId="{042E2793-3DC5-4CE9-BA91-01603716AA59}" dt="2026-09-14T12:01:12.218" v="270" actId="1582"/>
          <ac:spMkLst>
            <pc:docMk/>
            <pc:sldMk cId="3332269789" sldId="298"/>
            <ac:spMk id="7" creationId="{EECCDEBE-6F30-4D8E-BD1D-F8F6952B1582}"/>
          </ac:spMkLst>
        </pc:spChg>
        <pc:spChg chg="add del mod">
          <ac:chgData name="James Edgar McCutcheon" userId="7f873ef2-5165-4f07-9a0f-a18721295519" providerId="ADAL" clId="{042E2793-3DC5-4CE9-BA91-01603716AA59}" dt="2026-09-14T12:01:48.595" v="274" actId="478"/>
          <ac:spMkLst>
            <pc:docMk/>
            <pc:sldMk cId="3332269789" sldId="298"/>
            <ac:spMk id="8" creationId="{5EC699DB-E60E-3FE0-01F9-90BC6AD22544}"/>
          </ac:spMkLst>
        </pc:spChg>
        <pc:picChg chg="mod">
          <ac:chgData name="James Edgar McCutcheon" userId="7f873ef2-5165-4f07-9a0f-a18721295519" providerId="ADAL" clId="{042E2793-3DC5-4CE9-BA91-01603716AA59}" dt="2026-09-14T12:00:49.409" v="266" actId="14100"/>
          <ac:picMkLst>
            <pc:docMk/>
            <pc:sldMk cId="3332269789" sldId="298"/>
            <ac:picMk id="5" creationId="{4E43B6A6-E57C-3969-994F-FD840EFCEE0C}"/>
          </ac:picMkLst>
        </pc:picChg>
      </pc:sldChg>
      <pc:sldChg chg="modSp add mod modAnim">
        <pc:chgData name="James Edgar McCutcheon" userId="7f873ef2-5165-4f07-9a0f-a18721295519" providerId="ADAL" clId="{042E2793-3DC5-4CE9-BA91-01603716AA59}" dt="2026-09-14T12:02:06.300" v="278"/>
        <pc:sldMkLst>
          <pc:docMk/>
          <pc:sldMk cId="1246895677" sldId="299"/>
        </pc:sldMkLst>
        <pc:spChg chg="mod">
          <ac:chgData name="James Edgar McCutcheon" userId="7f873ef2-5165-4f07-9a0f-a18721295519" providerId="ADAL" clId="{042E2793-3DC5-4CE9-BA91-01603716AA59}" dt="2026-09-14T12:02:02.471" v="277" actId="14100"/>
          <ac:spMkLst>
            <pc:docMk/>
            <pc:sldMk cId="1246895677" sldId="299"/>
            <ac:spMk id="7" creationId="{18FFBC19-7F0E-922C-B94E-FD70CA01A82A}"/>
          </ac:spMkLst>
        </pc:spChg>
      </pc:sldChg>
      <pc:sldChg chg="modSp add mod">
        <pc:chgData name="James Edgar McCutcheon" userId="7f873ef2-5165-4f07-9a0f-a18721295519" providerId="ADAL" clId="{042E2793-3DC5-4CE9-BA91-01603716AA59}" dt="2026-09-14T12:02:17.414" v="281" actId="14100"/>
        <pc:sldMkLst>
          <pc:docMk/>
          <pc:sldMk cId="2667079669" sldId="300"/>
        </pc:sldMkLst>
        <pc:spChg chg="mod">
          <ac:chgData name="James Edgar McCutcheon" userId="7f873ef2-5165-4f07-9a0f-a18721295519" providerId="ADAL" clId="{042E2793-3DC5-4CE9-BA91-01603716AA59}" dt="2026-09-14T12:02:17.414" v="281" actId="14100"/>
          <ac:spMkLst>
            <pc:docMk/>
            <pc:sldMk cId="2667079669" sldId="300"/>
            <ac:spMk id="7" creationId="{93C8FA7A-2E8B-DEDD-5971-CA9FA2BFA49B}"/>
          </ac:spMkLst>
        </pc:spChg>
      </pc:sldChg>
      <pc:sldChg chg="modSp add mod">
        <pc:chgData name="James Edgar McCutcheon" userId="7f873ef2-5165-4f07-9a0f-a18721295519" providerId="ADAL" clId="{042E2793-3DC5-4CE9-BA91-01603716AA59}" dt="2026-09-14T12:02:41.627" v="287" actId="14100"/>
        <pc:sldMkLst>
          <pc:docMk/>
          <pc:sldMk cId="246245722" sldId="301"/>
        </pc:sldMkLst>
        <pc:spChg chg="mod">
          <ac:chgData name="James Edgar McCutcheon" userId="7f873ef2-5165-4f07-9a0f-a18721295519" providerId="ADAL" clId="{042E2793-3DC5-4CE9-BA91-01603716AA59}" dt="2026-09-14T12:02:41.627" v="287" actId="14100"/>
          <ac:spMkLst>
            <pc:docMk/>
            <pc:sldMk cId="246245722" sldId="301"/>
            <ac:spMk id="7" creationId="{15C09D1C-0CBE-3DDA-D025-213E8132763B}"/>
          </ac:spMkLst>
        </pc:spChg>
      </pc:sldChg>
      <pc:sldChg chg="modSp add mod">
        <pc:chgData name="James Edgar McCutcheon" userId="7f873ef2-5165-4f07-9a0f-a18721295519" providerId="ADAL" clId="{042E2793-3DC5-4CE9-BA91-01603716AA59}" dt="2026-09-14T12:02:58.519" v="292" actId="14100"/>
        <pc:sldMkLst>
          <pc:docMk/>
          <pc:sldMk cId="2962531132" sldId="302"/>
        </pc:sldMkLst>
        <pc:spChg chg="mod">
          <ac:chgData name="James Edgar McCutcheon" userId="7f873ef2-5165-4f07-9a0f-a18721295519" providerId="ADAL" clId="{042E2793-3DC5-4CE9-BA91-01603716AA59}" dt="2026-09-14T12:02:58.519" v="292" actId="14100"/>
          <ac:spMkLst>
            <pc:docMk/>
            <pc:sldMk cId="2962531132" sldId="302"/>
            <ac:spMk id="7" creationId="{EE202EA5-F369-B669-6DEF-14C8D0F64EB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AAD82-D7E8-A45D-0CF8-15ADACEC21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C682A59-4DA0-1050-0074-6EB1180EDF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5120EF2-398A-3CE0-79DC-388A02851E71}"/>
              </a:ext>
            </a:extLst>
          </p:cNvPr>
          <p:cNvSpPr>
            <a:spLocks noGrp="1"/>
          </p:cNvSpPr>
          <p:nvPr>
            <p:ph type="dt" sz="half" idx="10"/>
          </p:nvPr>
        </p:nvSpPr>
        <p:spPr/>
        <p:txBody>
          <a:bodyPr/>
          <a:lstStyle/>
          <a:p>
            <a:fld id="{AAE5EDE4-3F96-4F90-8284-A84A4A01A4EA}" type="datetimeFigureOut">
              <a:rPr lang="en-GB" smtClean="0"/>
              <a:t>14/09/2026</a:t>
            </a:fld>
            <a:endParaRPr lang="en-GB"/>
          </a:p>
        </p:txBody>
      </p:sp>
      <p:sp>
        <p:nvSpPr>
          <p:cNvPr id="5" name="Footer Placeholder 4">
            <a:extLst>
              <a:ext uri="{FF2B5EF4-FFF2-40B4-BE49-F238E27FC236}">
                <a16:creationId xmlns:a16="http://schemas.microsoft.com/office/drawing/2014/main" id="{F775C8BC-276B-51DF-EB60-E8DC73E3929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E41FED7-9749-FE0B-2CBB-EBD8F1A8BEAD}"/>
              </a:ext>
            </a:extLst>
          </p:cNvPr>
          <p:cNvSpPr>
            <a:spLocks noGrp="1"/>
          </p:cNvSpPr>
          <p:nvPr>
            <p:ph type="sldNum" sz="quarter" idx="12"/>
          </p:nvPr>
        </p:nvSpPr>
        <p:spPr/>
        <p:txBody>
          <a:bodyPr/>
          <a:lstStyle/>
          <a:p>
            <a:fld id="{59ABCDBB-5764-4E14-9C4B-F0488334B6AA}" type="slidenum">
              <a:rPr lang="en-GB" smtClean="0"/>
              <a:t>‹#›</a:t>
            </a:fld>
            <a:endParaRPr lang="en-GB"/>
          </a:p>
        </p:txBody>
      </p:sp>
    </p:spTree>
    <p:extLst>
      <p:ext uri="{BB962C8B-B14F-4D97-AF65-F5344CB8AC3E}">
        <p14:creationId xmlns:p14="http://schemas.microsoft.com/office/powerpoint/2010/main" val="412483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65290-FD21-D99B-8FE2-316A3A3B4D5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7BD1B58-8D60-9E8E-BA61-39200FCD83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61836AB-FF36-6C2D-C0BE-AA5E862DF90E}"/>
              </a:ext>
            </a:extLst>
          </p:cNvPr>
          <p:cNvSpPr>
            <a:spLocks noGrp="1"/>
          </p:cNvSpPr>
          <p:nvPr>
            <p:ph type="dt" sz="half" idx="10"/>
          </p:nvPr>
        </p:nvSpPr>
        <p:spPr/>
        <p:txBody>
          <a:bodyPr/>
          <a:lstStyle/>
          <a:p>
            <a:fld id="{AAE5EDE4-3F96-4F90-8284-A84A4A01A4EA}" type="datetimeFigureOut">
              <a:rPr lang="en-GB" smtClean="0"/>
              <a:t>14/09/2026</a:t>
            </a:fld>
            <a:endParaRPr lang="en-GB"/>
          </a:p>
        </p:txBody>
      </p:sp>
      <p:sp>
        <p:nvSpPr>
          <p:cNvPr id="5" name="Footer Placeholder 4">
            <a:extLst>
              <a:ext uri="{FF2B5EF4-FFF2-40B4-BE49-F238E27FC236}">
                <a16:creationId xmlns:a16="http://schemas.microsoft.com/office/drawing/2014/main" id="{3C3CCB8F-1863-DD6E-255D-D67AADE863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E646C91-CF55-D6F4-26FA-D287D3DA2064}"/>
              </a:ext>
            </a:extLst>
          </p:cNvPr>
          <p:cNvSpPr>
            <a:spLocks noGrp="1"/>
          </p:cNvSpPr>
          <p:nvPr>
            <p:ph type="sldNum" sz="quarter" idx="12"/>
          </p:nvPr>
        </p:nvSpPr>
        <p:spPr/>
        <p:txBody>
          <a:bodyPr/>
          <a:lstStyle/>
          <a:p>
            <a:fld id="{59ABCDBB-5764-4E14-9C4B-F0488334B6AA}" type="slidenum">
              <a:rPr lang="en-GB" smtClean="0"/>
              <a:t>‹#›</a:t>
            </a:fld>
            <a:endParaRPr lang="en-GB"/>
          </a:p>
        </p:txBody>
      </p:sp>
    </p:spTree>
    <p:extLst>
      <p:ext uri="{BB962C8B-B14F-4D97-AF65-F5344CB8AC3E}">
        <p14:creationId xmlns:p14="http://schemas.microsoft.com/office/powerpoint/2010/main" val="2844063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8F722-6A23-F6AB-07BB-53E993B9AC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619F66F-8870-7512-6660-16CF9520CF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FD039B-AC6F-FD23-9FC3-D164F8CE5865}"/>
              </a:ext>
            </a:extLst>
          </p:cNvPr>
          <p:cNvSpPr>
            <a:spLocks noGrp="1"/>
          </p:cNvSpPr>
          <p:nvPr>
            <p:ph type="dt" sz="half" idx="10"/>
          </p:nvPr>
        </p:nvSpPr>
        <p:spPr/>
        <p:txBody>
          <a:bodyPr/>
          <a:lstStyle/>
          <a:p>
            <a:fld id="{AAE5EDE4-3F96-4F90-8284-A84A4A01A4EA}" type="datetimeFigureOut">
              <a:rPr lang="en-GB" smtClean="0"/>
              <a:t>14/09/2026</a:t>
            </a:fld>
            <a:endParaRPr lang="en-GB"/>
          </a:p>
        </p:txBody>
      </p:sp>
      <p:sp>
        <p:nvSpPr>
          <p:cNvPr id="5" name="Footer Placeholder 4">
            <a:extLst>
              <a:ext uri="{FF2B5EF4-FFF2-40B4-BE49-F238E27FC236}">
                <a16:creationId xmlns:a16="http://schemas.microsoft.com/office/drawing/2014/main" id="{92441944-9128-7C51-90E2-B2D681C3AFE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E44076C-E335-A21B-8891-455046F0C459}"/>
              </a:ext>
            </a:extLst>
          </p:cNvPr>
          <p:cNvSpPr>
            <a:spLocks noGrp="1"/>
          </p:cNvSpPr>
          <p:nvPr>
            <p:ph type="sldNum" sz="quarter" idx="12"/>
          </p:nvPr>
        </p:nvSpPr>
        <p:spPr/>
        <p:txBody>
          <a:bodyPr/>
          <a:lstStyle/>
          <a:p>
            <a:fld id="{59ABCDBB-5764-4E14-9C4B-F0488334B6AA}" type="slidenum">
              <a:rPr lang="en-GB" smtClean="0"/>
              <a:t>‹#›</a:t>
            </a:fld>
            <a:endParaRPr lang="en-GB"/>
          </a:p>
        </p:txBody>
      </p:sp>
    </p:spTree>
    <p:extLst>
      <p:ext uri="{BB962C8B-B14F-4D97-AF65-F5344CB8AC3E}">
        <p14:creationId xmlns:p14="http://schemas.microsoft.com/office/powerpoint/2010/main" val="1760343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95C99-C112-B335-3465-434FE778952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441DBD8-18B3-9BD3-68C7-4D3D1AD03E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CF2CF5F-2255-6376-7068-3E47E2C5DC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CD82C8D-0C04-DF58-83F5-61A08D99B817}"/>
              </a:ext>
            </a:extLst>
          </p:cNvPr>
          <p:cNvSpPr>
            <a:spLocks noGrp="1"/>
          </p:cNvSpPr>
          <p:nvPr>
            <p:ph type="dt" sz="half" idx="10"/>
          </p:nvPr>
        </p:nvSpPr>
        <p:spPr/>
        <p:txBody>
          <a:bodyPr/>
          <a:lstStyle/>
          <a:p>
            <a:fld id="{AAE5EDE4-3F96-4F90-8284-A84A4A01A4EA}" type="datetimeFigureOut">
              <a:rPr lang="en-GB" smtClean="0"/>
              <a:t>14/09/2026</a:t>
            </a:fld>
            <a:endParaRPr lang="en-GB"/>
          </a:p>
        </p:txBody>
      </p:sp>
      <p:sp>
        <p:nvSpPr>
          <p:cNvPr id="6" name="Footer Placeholder 5">
            <a:extLst>
              <a:ext uri="{FF2B5EF4-FFF2-40B4-BE49-F238E27FC236}">
                <a16:creationId xmlns:a16="http://schemas.microsoft.com/office/drawing/2014/main" id="{4D407E76-234A-A413-963C-E2BD968D937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FEB562C-D1DE-DA77-E329-3F8F31F42A38}"/>
              </a:ext>
            </a:extLst>
          </p:cNvPr>
          <p:cNvSpPr>
            <a:spLocks noGrp="1"/>
          </p:cNvSpPr>
          <p:nvPr>
            <p:ph type="sldNum" sz="quarter" idx="12"/>
          </p:nvPr>
        </p:nvSpPr>
        <p:spPr/>
        <p:txBody>
          <a:bodyPr/>
          <a:lstStyle/>
          <a:p>
            <a:fld id="{59ABCDBB-5764-4E14-9C4B-F0488334B6AA}" type="slidenum">
              <a:rPr lang="en-GB" smtClean="0"/>
              <a:t>‹#›</a:t>
            </a:fld>
            <a:endParaRPr lang="en-GB"/>
          </a:p>
        </p:txBody>
      </p:sp>
    </p:spTree>
    <p:extLst>
      <p:ext uri="{BB962C8B-B14F-4D97-AF65-F5344CB8AC3E}">
        <p14:creationId xmlns:p14="http://schemas.microsoft.com/office/powerpoint/2010/main" val="3767226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57689-F5BE-C060-AED9-53C0AB427F3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A9F4071-CE58-A9A8-C51A-389FEE8B1D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06C5E5-EB89-AFE5-6D3B-31FE53A1EA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C690D6D-D7D5-BED4-05EF-221F3B4987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F54D61-BCBC-CFC4-2444-8BC7FD224A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C8CD938-4A96-21BA-5E9F-A64F95772C43}"/>
              </a:ext>
            </a:extLst>
          </p:cNvPr>
          <p:cNvSpPr>
            <a:spLocks noGrp="1"/>
          </p:cNvSpPr>
          <p:nvPr>
            <p:ph type="dt" sz="half" idx="10"/>
          </p:nvPr>
        </p:nvSpPr>
        <p:spPr/>
        <p:txBody>
          <a:bodyPr/>
          <a:lstStyle/>
          <a:p>
            <a:fld id="{AAE5EDE4-3F96-4F90-8284-A84A4A01A4EA}" type="datetimeFigureOut">
              <a:rPr lang="en-GB" smtClean="0"/>
              <a:t>14/09/2026</a:t>
            </a:fld>
            <a:endParaRPr lang="en-GB"/>
          </a:p>
        </p:txBody>
      </p:sp>
      <p:sp>
        <p:nvSpPr>
          <p:cNvPr id="8" name="Footer Placeholder 7">
            <a:extLst>
              <a:ext uri="{FF2B5EF4-FFF2-40B4-BE49-F238E27FC236}">
                <a16:creationId xmlns:a16="http://schemas.microsoft.com/office/drawing/2014/main" id="{3DEFED9C-575F-AF5A-1931-77AB57EC2BA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712203B-34EA-8D91-566B-CB816EFA1354}"/>
              </a:ext>
            </a:extLst>
          </p:cNvPr>
          <p:cNvSpPr>
            <a:spLocks noGrp="1"/>
          </p:cNvSpPr>
          <p:nvPr>
            <p:ph type="sldNum" sz="quarter" idx="12"/>
          </p:nvPr>
        </p:nvSpPr>
        <p:spPr/>
        <p:txBody>
          <a:bodyPr/>
          <a:lstStyle/>
          <a:p>
            <a:fld id="{59ABCDBB-5764-4E14-9C4B-F0488334B6AA}" type="slidenum">
              <a:rPr lang="en-GB" smtClean="0"/>
              <a:t>‹#›</a:t>
            </a:fld>
            <a:endParaRPr lang="en-GB"/>
          </a:p>
        </p:txBody>
      </p:sp>
    </p:spTree>
    <p:extLst>
      <p:ext uri="{BB962C8B-B14F-4D97-AF65-F5344CB8AC3E}">
        <p14:creationId xmlns:p14="http://schemas.microsoft.com/office/powerpoint/2010/main" val="1538993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31D34-F161-1346-28D7-F38504C6C3E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1CD7C51-1225-5521-EC27-D6FE394A6DC8}"/>
              </a:ext>
            </a:extLst>
          </p:cNvPr>
          <p:cNvSpPr>
            <a:spLocks noGrp="1"/>
          </p:cNvSpPr>
          <p:nvPr>
            <p:ph type="dt" sz="half" idx="10"/>
          </p:nvPr>
        </p:nvSpPr>
        <p:spPr/>
        <p:txBody>
          <a:bodyPr/>
          <a:lstStyle/>
          <a:p>
            <a:fld id="{AAE5EDE4-3F96-4F90-8284-A84A4A01A4EA}" type="datetimeFigureOut">
              <a:rPr lang="en-GB" smtClean="0"/>
              <a:t>14/09/2026</a:t>
            </a:fld>
            <a:endParaRPr lang="en-GB"/>
          </a:p>
        </p:txBody>
      </p:sp>
      <p:sp>
        <p:nvSpPr>
          <p:cNvPr id="4" name="Footer Placeholder 3">
            <a:extLst>
              <a:ext uri="{FF2B5EF4-FFF2-40B4-BE49-F238E27FC236}">
                <a16:creationId xmlns:a16="http://schemas.microsoft.com/office/drawing/2014/main" id="{A055CD71-9BC2-E71E-C9F6-E2B5F59BC8C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F3EE2BA-3AC5-6EBD-DB78-AFBE98FE92BE}"/>
              </a:ext>
            </a:extLst>
          </p:cNvPr>
          <p:cNvSpPr>
            <a:spLocks noGrp="1"/>
          </p:cNvSpPr>
          <p:nvPr>
            <p:ph type="sldNum" sz="quarter" idx="12"/>
          </p:nvPr>
        </p:nvSpPr>
        <p:spPr/>
        <p:txBody>
          <a:bodyPr/>
          <a:lstStyle/>
          <a:p>
            <a:fld id="{59ABCDBB-5764-4E14-9C4B-F0488334B6AA}" type="slidenum">
              <a:rPr lang="en-GB" smtClean="0"/>
              <a:t>‹#›</a:t>
            </a:fld>
            <a:endParaRPr lang="en-GB"/>
          </a:p>
        </p:txBody>
      </p:sp>
    </p:spTree>
    <p:extLst>
      <p:ext uri="{BB962C8B-B14F-4D97-AF65-F5344CB8AC3E}">
        <p14:creationId xmlns:p14="http://schemas.microsoft.com/office/powerpoint/2010/main" val="3597962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4297C3-5E98-D8A0-7F9A-91EE99421B14}"/>
              </a:ext>
            </a:extLst>
          </p:cNvPr>
          <p:cNvSpPr>
            <a:spLocks noGrp="1"/>
          </p:cNvSpPr>
          <p:nvPr>
            <p:ph type="dt" sz="half" idx="10"/>
          </p:nvPr>
        </p:nvSpPr>
        <p:spPr/>
        <p:txBody>
          <a:bodyPr/>
          <a:lstStyle/>
          <a:p>
            <a:fld id="{AAE5EDE4-3F96-4F90-8284-A84A4A01A4EA}" type="datetimeFigureOut">
              <a:rPr lang="en-GB" smtClean="0"/>
              <a:t>14/09/2026</a:t>
            </a:fld>
            <a:endParaRPr lang="en-GB"/>
          </a:p>
        </p:txBody>
      </p:sp>
      <p:sp>
        <p:nvSpPr>
          <p:cNvPr id="3" name="Footer Placeholder 2">
            <a:extLst>
              <a:ext uri="{FF2B5EF4-FFF2-40B4-BE49-F238E27FC236}">
                <a16:creationId xmlns:a16="http://schemas.microsoft.com/office/drawing/2014/main" id="{ACC4BD4D-1B9C-1FFD-46E0-150AD196A18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E93BE82-C4D5-D05F-3541-0301D6A7675A}"/>
              </a:ext>
            </a:extLst>
          </p:cNvPr>
          <p:cNvSpPr>
            <a:spLocks noGrp="1"/>
          </p:cNvSpPr>
          <p:nvPr>
            <p:ph type="sldNum" sz="quarter" idx="12"/>
          </p:nvPr>
        </p:nvSpPr>
        <p:spPr/>
        <p:txBody>
          <a:bodyPr/>
          <a:lstStyle/>
          <a:p>
            <a:fld id="{59ABCDBB-5764-4E14-9C4B-F0488334B6AA}" type="slidenum">
              <a:rPr lang="en-GB" smtClean="0"/>
              <a:t>‹#›</a:t>
            </a:fld>
            <a:endParaRPr lang="en-GB"/>
          </a:p>
        </p:txBody>
      </p:sp>
    </p:spTree>
    <p:extLst>
      <p:ext uri="{BB962C8B-B14F-4D97-AF65-F5344CB8AC3E}">
        <p14:creationId xmlns:p14="http://schemas.microsoft.com/office/powerpoint/2010/main" val="1329171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4839E-AFFB-ADA7-1FF7-5F0838E161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432902E-7517-3153-F1D3-652EB9AD6B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EC63D3E-C154-D735-4C66-96712EECA1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03ABF3-DEEC-5B45-AB57-1D2FF2D8CA26}"/>
              </a:ext>
            </a:extLst>
          </p:cNvPr>
          <p:cNvSpPr>
            <a:spLocks noGrp="1"/>
          </p:cNvSpPr>
          <p:nvPr>
            <p:ph type="dt" sz="half" idx="10"/>
          </p:nvPr>
        </p:nvSpPr>
        <p:spPr/>
        <p:txBody>
          <a:bodyPr/>
          <a:lstStyle/>
          <a:p>
            <a:fld id="{AAE5EDE4-3F96-4F90-8284-A84A4A01A4EA}" type="datetimeFigureOut">
              <a:rPr lang="en-GB" smtClean="0"/>
              <a:t>14/09/2026</a:t>
            </a:fld>
            <a:endParaRPr lang="en-GB"/>
          </a:p>
        </p:txBody>
      </p:sp>
      <p:sp>
        <p:nvSpPr>
          <p:cNvPr id="6" name="Footer Placeholder 5">
            <a:extLst>
              <a:ext uri="{FF2B5EF4-FFF2-40B4-BE49-F238E27FC236}">
                <a16:creationId xmlns:a16="http://schemas.microsoft.com/office/drawing/2014/main" id="{689AE7FB-2181-D9B8-CD6B-62080193F14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F048E27-C906-A6CB-C594-55FF70ABB8C2}"/>
              </a:ext>
            </a:extLst>
          </p:cNvPr>
          <p:cNvSpPr>
            <a:spLocks noGrp="1"/>
          </p:cNvSpPr>
          <p:nvPr>
            <p:ph type="sldNum" sz="quarter" idx="12"/>
          </p:nvPr>
        </p:nvSpPr>
        <p:spPr/>
        <p:txBody>
          <a:bodyPr/>
          <a:lstStyle/>
          <a:p>
            <a:fld id="{59ABCDBB-5764-4E14-9C4B-F0488334B6AA}" type="slidenum">
              <a:rPr lang="en-GB" smtClean="0"/>
              <a:t>‹#›</a:t>
            </a:fld>
            <a:endParaRPr lang="en-GB"/>
          </a:p>
        </p:txBody>
      </p:sp>
    </p:spTree>
    <p:extLst>
      <p:ext uri="{BB962C8B-B14F-4D97-AF65-F5344CB8AC3E}">
        <p14:creationId xmlns:p14="http://schemas.microsoft.com/office/powerpoint/2010/main" val="390952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46F25-9AD6-FAB9-6A27-4F9B887FE9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D80C378-4ADE-67E0-0C21-FD0A8C2E40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9777F1A-A2F3-DA17-3BC7-6EAD31800C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2754EC-A523-61E8-84FC-D429B0B4187F}"/>
              </a:ext>
            </a:extLst>
          </p:cNvPr>
          <p:cNvSpPr>
            <a:spLocks noGrp="1"/>
          </p:cNvSpPr>
          <p:nvPr>
            <p:ph type="dt" sz="half" idx="10"/>
          </p:nvPr>
        </p:nvSpPr>
        <p:spPr/>
        <p:txBody>
          <a:bodyPr/>
          <a:lstStyle/>
          <a:p>
            <a:fld id="{AAE5EDE4-3F96-4F90-8284-A84A4A01A4EA}" type="datetimeFigureOut">
              <a:rPr lang="en-GB" smtClean="0"/>
              <a:t>14/09/2026</a:t>
            </a:fld>
            <a:endParaRPr lang="en-GB"/>
          </a:p>
        </p:txBody>
      </p:sp>
      <p:sp>
        <p:nvSpPr>
          <p:cNvPr id="6" name="Footer Placeholder 5">
            <a:extLst>
              <a:ext uri="{FF2B5EF4-FFF2-40B4-BE49-F238E27FC236}">
                <a16:creationId xmlns:a16="http://schemas.microsoft.com/office/drawing/2014/main" id="{91091981-0728-DFAB-5460-762D61CD059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202E4F5-B3F7-B0BA-2537-04E116F3C690}"/>
              </a:ext>
            </a:extLst>
          </p:cNvPr>
          <p:cNvSpPr>
            <a:spLocks noGrp="1"/>
          </p:cNvSpPr>
          <p:nvPr>
            <p:ph type="sldNum" sz="quarter" idx="12"/>
          </p:nvPr>
        </p:nvSpPr>
        <p:spPr/>
        <p:txBody>
          <a:bodyPr/>
          <a:lstStyle/>
          <a:p>
            <a:fld id="{59ABCDBB-5764-4E14-9C4B-F0488334B6AA}" type="slidenum">
              <a:rPr lang="en-GB" smtClean="0"/>
              <a:t>‹#›</a:t>
            </a:fld>
            <a:endParaRPr lang="en-GB"/>
          </a:p>
        </p:txBody>
      </p:sp>
    </p:spTree>
    <p:extLst>
      <p:ext uri="{BB962C8B-B14F-4D97-AF65-F5344CB8AC3E}">
        <p14:creationId xmlns:p14="http://schemas.microsoft.com/office/powerpoint/2010/main" val="651405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FC1B1-3363-B008-45CA-B8ADF4A943A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AE63C55-0F70-8DE7-3753-294CCF55D5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3DEF07C-71F2-804F-F459-8C10C37AB1B3}"/>
              </a:ext>
            </a:extLst>
          </p:cNvPr>
          <p:cNvSpPr>
            <a:spLocks noGrp="1"/>
          </p:cNvSpPr>
          <p:nvPr>
            <p:ph type="dt" sz="half" idx="10"/>
          </p:nvPr>
        </p:nvSpPr>
        <p:spPr/>
        <p:txBody>
          <a:bodyPr/>
          <a:lstStyle/>
          <a:p>
            <a:fld id="{AAE5EDE4-3F96-4F90-8284-A84A4A01A4EA}" type="datetimeFigureOut">
              <a:rPr lang="en-GB" smtClean="0"/>
              <a:t>14/09/2026</a:t>
            </a:fld>
            <a:endParaRPr lang="en-GB"/>
          </a:p>
        </p:txBody>
      </p:sp>
      <p:sp>
        <p:nvSpPr>
          <p:cNvPr id="5" name="Footer Placeholder 4">
            <a:extLst>
              <a:ext uri="{FF2B5EF4-FFF2-40B4-BE49-F238E27FC236}">
                <a16:creationId xmlns:a16="http://schemas.microsoft.com/office/drawing/2014/main" id="{E826DC93-F1EB-474F-5CBD-83B8220E46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632727A-0AAE-0C01-D1A8-FC24FD697B8A}"/>
              </a:ext>
            </a:extLst>
          </p:cNvPr>
          <p:cNvSpPr>
            <a:spLocks noGrp="1"/>
          </p:cNvSpPr>
          <p:nvPr>
            <p:ph type="sldNum" sz="quarter" idx="12"/>
          </p:nvPr>
        </p:nvSpPr>
        <p:spPr/>
        <p:txBody>
          <a:bodyPr/>
          <a:lstStyle/>
          <a:p>
            <a:fld id="{59ABCDBB-5764-4E14-9C4B-F0488334B6AA}" type="slidenum">
              <a:rPr lang="en-GB" smtClean="0"/>
              <a:t>‹#›</a:t>
            </a:fld>
            <a:endParaRPr lang="en-GB"/>
          </a:p>
        </p:txBody>
      </p:sp>
    </p:spTree>
    <p:extLst>
      <p:ext uri="{BB962C8B-B14F-4D97-AF65-F5344CB8AC3E}">
        <p14:creationId xmlns:p14="http://schemas.microsoft.com/office/powerpoint/2010/main" val="213809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481A65-2BBB-8015-92A7-87A75616F6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A54EDDF-6374-80ED-522D-AFCD62C0A5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CEE6C85-00FC-819C-659C-E0CD4107CF7E}"/>
              </a:ext>
            </a:extLst>
          </p:cNvPr>
          <p:cNvSpPr>
            <a:spLocks noGrp="1"/>
          </p:cNvSpPr>
          <p:nvPr>
            <p:ph type="dt" sz="half" idx="10"/>
          </p:nvPr>
        </p:nvSpPr>
        <p:spPr/>
        <p:txBody>
          <a:bodyPr/>
          <a:lstStyle/>
          <a:p>
            <a:fld id="{AAE5EDE4-3F96-4F90-8284-A84A4A01A4EA}" type="datetimeFigureOut">
              <a:rPr lang="en-GB" smtClean="0"/>
              <a:t>14/09/2026</a:t>
            </a:fld>
            <a:endParaRPr lang="en-GB"/>
          </a:p>
        </p:txBody>
      </p:sp>
      <p:sp>
        <p:nvSpPr>
          <p:cNvPr id="5" name="Footer Placeholder 4">
            <a:extLst>
              <a:ext uri="{FF2B5EF4-FFF2-40B4-BE49-F238E27FC236}">
                <a16:creationId xmlns:a16="http://schemas.microsoft.com/office/drawing/2014/main" id="{4008C564-E108-6F46-3D77-9BA012A24C3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4C9C55-7388-5872-FFB2-B5E8B336A241}"/>
              </a:ext>
            </a:extLst>
          </p:cNvPr>
          <p:cNvSpPr>
            <a:spLocks noGrp="1"/>
          </p:cNvSpPr>
          <p:nvPr>
            <p:ph type="sldNum" sz="quarter" idx="12"/>
          </p:nvPr>
        </p:nvSpPr>
        <p:spPr/>
        <p:txBody>
          <a:bodyPr/>
          <a:lstStyle/>
          <a:p>
            <a:fld id="{59ABCDBB-5764-4E14-9C4B-F0488334B6AA}" type="slidenum">
              <a:rPr lang="en-GB" smtClean="0"/>
              <a:t>‹#›</a:t>
            </a:fld>
            <a:endParaRPr lang="en-GB"/>
          </a:p>
        </p:txBody>
      </p:sp>
    </p:spTree>
    <p:extLst>
      <p:ext uri="{BB962C8B-B14F-4D97-AF65-F5344CB8AC3E}">
        <p14:creationId xmlns:p14="http://schemas.microsoft.com/office/powerpoint/2010/main" val="1184457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3EABC2-38AB-6ECC-ADD1-822287782A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D95823F-4351-7751-DD19-3352CF420C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3B24A1D-69F3-E0C6-AA10-1689374158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E5EDE4-3F96-4F90-8284-A84A4A01A4EA}" type="datetimeFigureOut">
              <a:rPr lang="en-GB" smtClean="0"/>
              <a:t>14/09/2026</a:t>
            </a:fld>
            <a:endParaRPr lang="en-GB"/>
          </a:p>
        </p:txBody>
      </p:sp>
      <p:sp>
        <p:nvSpPr>
          <p:cNvPr id="5" name="Footer Placeholder 4">
            <a:extLst>
              <a:ext uri="{FF2B5EF4-FFF2-40B4-BE49-F238E27FC236}">
                <a16:creationId xmlns:a16="http://schemas.microsoft.com/office/drawing/2014/main" id="{0382280B-0FAB-80C6-38C7-19E34E2F25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C7F4C67-0ACA-E9D6-EA32-02E3E799E7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ABCDBB-5764-4E14-9C4B-F0488334B6AA}" type="slidenum">
              <a:rPr lang="en-GB" smtClean="0"/>
              <a:t>‹#›</a:t>
            </a:fld>
            <a:endParaRPr lang="en-GB"/>
          </a:p>
        </p:txBody>
      </p:sp>
    </p:spTree>
    <p:extLst>
      <p:ext uri="{BB962C8B-B14F-4D97-AF65-F5344CB8AC3E}">
        <p14:creationId xmlns:p14="http://schemas.microsoft.com/office/powerpoint/2010/main" val="4692006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chart&#10;&#10;Description automatically generated">
            <a:extLst>
              <a:ext uri="{FF2B5EF4-FFF2-40B4-BE49-F238E27FC236}">
                <a16:creationId xmlns:a16="http://schemas.microsoft.com/office/drawing/2014/main" id="{5BB05982-3E35-1738-8F45-22D2B850B691}"/>
              </a:ext>
            </a:extLst>
          </p:cNvPr>
          <p:cNvPicPr>
            <a:picLocks noChangeAspect="1"/>
          </p:cNvPicPr>
          <p:nvPr/>
        </p:nvPicPr>
        <p:blipFill rotWithShape="1">
          <a:blip r:embed="rId2">
            <a:extLst>
              <a:ext uri="{28A0092B-C50C-407E-A947-70E740481C1C}">
                <a14:useLocalDpi xmlns:a14="http://schemas.microsoft.com/office/drawing/2010/main" val="0"/>
              </a:ext>
            </a:extLst>
          </a:blip>
          <a:srcRect t="12371" r="9089" b="15706"/>
          <a:stretch/>
        </p:blipFill>
        <p:spPr>
          <a:xfrm>
            <a:off x="3523488" y="10"/>
            <a:ext cx="8668512" cy="6857990"/>
          </a:xfrm>
          <a:prstGeom prst="rect">
            <a:avLst/>
          </a:prstGeom>
        </p:spPr>
      </p:pic>
      <p:sp>
        <p:nvSpPr>
          <p:cNvPr id="2" name="Title 1">
            <a:extLst>
              <a:ext uri="{FF2B5EF4-FFF2-40B4-BE49-F238E27FC236}">
                <a16:creationId xmlns:a16="http://schemas.microsoft.com/office/drawing/2014/main" id="{1C2CB861-1161-A2B4-7F33-CE37DE120B14}"/>
              </a:ext>
            </a:extLst>
          </p:cNvPr>
          <p:cNvSpPr>
            <a:spLocks noGrp="1"/>
          </p:cNvSpPr>
          <p:nvPr>
            <p:ph type="ctrTitle"/>
          </p:nvPr>
        </p:nvSpPr>
        <p:spPr>
          <a:xfrm>
            <a:off x="477980" y="1122363"/>
            <a:ext cx="4951976" cy="3204134"/>
          </a:xfrm>
        </p:spPr>
        <p:txBody>
          <a:bodyPr anchor="b">
            <a:normAutofit fontScale="90000"/>
          </a:bodyPr>
          <a:lstStyle/>
          <a:p>
            <a:pPr algn="l">
              <a:lnSpc>
                <a:spcPct val="120000"/>
              </a:lnSpc>
            </a:pPr>
            <a:r>
              <a:rPr lang="nb-NO" sz="3600">
                <a:latin typeface="Gameplay" panose="00000400000000000000" pitchFamily="2" charset="0"/>
                <a:cs typeface="Courier New" panose="02070309020205020404" pitchFamily="49" charset="0"/>
              </a:rPr>
              <a:t>Programming and Data Visualization for Researchers</a:t>
            </a:r>
            <a:br>
              <a:rPr lang="nb-NO" sz="3600">
                <a:latin typeface="Gameplay" panose="00000400000000000000" pitchFamily="2" charset="0"/>
                <a:cs typeface="Courier New" panose="02070309020205020404" pitchFamily="49" charset="0"/>
              </a:rPr>
            </a:br>
            <a:r>
              <a:rPr lang="nb-NO" sz="3600">
                <a:latin typeface="Gameplay" panose="00000400000000000000" pitchFamily="2" charset="0"/>
                <a:cs typeface="Courier New" panose="02070309020205020404" pitchFamily="49" charset="0"/>
              </a:rPr>
              <a:t>[HEL-8048] </a:t>
            </a:r>
            <a:endParaRPr lang="en-GB" sz="3600">
              <a:latin typeface="Gameplay" panose="00000400000000000000" pitchFamily="2" charset="0"/>
              <a:cs typeface="Courier New" panose="02070309020205020404" pitchFamily="49" charset="0"/>
            </a:endParaRPr>
          </a:p>
        </p:txBody>
      </p:sp>
      <p:sp>
        <p:nvSpPr>
          <p:cNvPr id="3" name="Subtitle 2">
            <a:extLst>
              <a:ext uri="{FF2B5EF4-FFF2-40B4-BE49-F238E27FC236}">
                <a16:creationId xmlns:a16="http://schemas.microsoft.com/office/drawing/2014/main" id="{4B9B11E9-5C2F-87E3-6436-5CF526B6A816}"/>
              </a:ext>
            </a:extLst>
          </p:cNvPr>
          <p:cNvSpPr>
            <a:spLocks noGrp="1"/>
          </p:cNvSpPr>
          <p:nvPr>
            <p:ph type="subTitle" idx="1"/>
          </p:nvPr>
        </p:nvSpPr>
        <p:spPr>
          <a:xfrm>
            <a:off x="477980" y="4872922"/>
            <a:ext cx="4023359" cy="1208141"/>
          </a:xfrm>
        </p:spPr>
        <p:txBody>
          <a:bodyPr>
            <a:normAutofit fontScale="85000" lnSpcReduction="10000"/>
          </a:bodyPr>
          <a:lstStyle/>
          <a:p>
            <a:pPr algn="l">
              <a:lnSpc>
                <a:spcPct val="120000"/>
              </a:lnSpc>
            </a:pPr>
            <a:r>
              <a:rPr lang="nb-NO" sz="2800" b="1">
                <a:latin typeface="Gameplay" panose="00000400000000000000" pitchFamily="2" charset="0"/>
              </a:rPr>
              <a:t>James McCutcheon</a:t>
            </a:r>
          </a:p>
          <a:p>
            <a:pPr algn="l"/>
            <a:r>
              <a:rPr lang="nb-NO" sz="2800" b="1">
                <a:latin typeface="Gameplay" panose="00000400000000000000" pitchFamily="2" charset="0"/>
              </a:rPr>
              <a:t>IPS / Helsefak</a:t>
            </a:r>
            <a:endParaRPr lang="en-GB" sz="2800" b="1">
              <a:latin typeface="Gameplay" panose="00000400000000000000" pitchFamily="2" charset="0"/>
            </a:endParaRPr>
          </a:p>
        </p:txBody>
      </p:sp>
      <p:sp>
        <p:nvSpPr>
          <p:cNvPr id="4" name="Subtitle 2">
            <a:extLst>
              <a:ext uri="{FF2B5EF4-FFF2-40B4-BE49-F238E27FC236}">
                <a16:creationId xmlns:a16="http://schemas.microsoft.com/office/drawing/2014/main" id="{56271E35-F436-B2E8-3B03-F51D03E799FA}"/>
              </a:ext>
            </a:extLst>
          </p:cNvPr>
          <p:cNvSpPr txBox="1">
            <a:spLocks/>
          </p:cNvSpPr>
          <p:nvPr/>
        </p:nvSpPr>
        <p:spPr>
          <a:xfrm>
            <a:off x="6455228" y="696768"/>
            <a:ext cx="2777838" cy="591706"/>
          </a:xfrm>
          <a:prstGeom prst="rect">
            <a:avLst/>
          </a:prstGeom>
          <a:ln w="38100">
            <a:solidFill>
              <a:schemeClr val="bg1"/>
            </a:solid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pPr>
            <a:r>
              <a:rPr lang="nb-NO" sz="2800" b="1">
                <a:solidFill>
                  <a:schemeClr val="bg1"/>
                </a:solidFill>
                <a:latin typeface="Gameplay" panose="00000400000000000000" pitchFamily="2" charset="0"/>
              </a:rPr>
              <a:t>Workshop 2</a:t>
            </a:r>
            <a:endParaRPr lang="en-GB" sz="2800" b="1">
              <a:solidFill>
                <a:schemeClr val="bg1"/>
              </a:solidFill>
              <a:latin typeface="Gameplay" panose="00000400000000000000" pitchFamily="2" charset="0"/>
            </a:endParaRPr>
          </a:p>
        </p:txBody>
      </p:sp>
    </p:spTree>
    <p:extLst>
      <p:ext uri="{BB962C8B-B14F-4D97-AF65-F5344CB8AC3E}">
        <p14:creationId xmlns:p14="http://schemas.microsoft.com/office/powerpoint/2010/main" val="466111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29556-C663-D717-2C87-59A5541221C6}"/>
              </a:ext>
            </a:extLst>
          </p:cNvPr>
          <p:cNvSpPr>
            <a:spLocks noGrp="1"/>
          </p:cNvSpPr>
          <p:nvPr>
            <p:ph type="title"/>
          </p:nvPr>
        </p:nvSpPr>
        <p:spPr/>
        <p:txBody>
          <a:bodyPr/>
          <a:lstStyle/>
          <a:p>
            <a:r>
              <a:rPr lang="en-US"/>
              <a:t>Extra material on Python fundamentals</a:t>
            </a:r>
            <a:endParaRPr lang="en-GB"/>
          </a:p>
        </p:txBody>
      </p:sp>
      <p:sp>
        <p:nvSpPr>
          <p:cNvPr id="3" name="Content Placeholder 2">
            <a:extLst>
              <a:ext uri="{FF2B5EF4-FFF2-40B4-BE49-F238E27FC236}">
                <a16:creationId xmlns:a16="http://schemas.microsoft.com/office/drawing/2014/main" id="{0971C568-B0FB-4494-8440-11E935937EBA}"/>
              </a:ext>
            </a:extLst>
          </p:cNvPr>
          <p:cNvSpPr>
            <a:spLocks noGrp="1"/>
          </p:cNvSpPr>
          <p:nvPr>
            <p:ph idx="1"/>
          </p:nvPr>
        </p:nvSpPr>
        <p:spPr/>
        <p:txBody>
          <a:bodyPr/>
          <a:lstStyle/>
          <a:p>
            <a:r>
              <a:rPr lang="en-US"/>
              <a:t>Types of variable (e.g. </a:t>
            </a:r>
            <a:r>
              <a:rPr lang="en-US" i="1"/>
              <a:t>strings</a:t>
            </a:r>
            <a:r>
              <a:rPr lang="en-US"/>
              <a:t>, </a:t>
            </a:r>
            <a:r>
              <a:rPr lang="en-US" i="1"/>
              <a:t>integers</a:t>
            </a:r>
            <a:r>
              <a:rPr lang="en-US"/>
              <a:t>, </a:t>
            </a:r>
            <a:r>
              <a:rPr lang="en-US" i="1"/>
              <a:t>lists</a:t>
            </a:r>
            <a:r>
              <a:rPr lang="en-US"/>
              <a:t>)</a:t>
            </a:r>
          </a:p>
          <a:p>
            <a:r>
              <a:rPr lang="en-US"/>
              <a:t>For-loops</a:t>
            </a:r>
          </a:p>
          <a:p>
            <a:r>
              <a:rPr lang="en-US"/>
              <a:t>Conditional statements (</a:t>
            </a:r>
            <a:r>
              <a:rPr lang="en-US" i="1"/>
              <a:t>if-else</a:t>
            </a:r>
            <a:r>
              <a:rPr lang="en-US"/>
              <a:t>)</a:t>
            </a:r>
            <a:endParaRPr lang="en-GB"/>
          </a:p>
        </p:txBody>
      </p:sp>
    </p:spTree>
    <p:extLst>
      <p:ext uri="{BB962C8B-B14F-4D97-AF65-F5344CB8AC3E}">
        <p14:creationId xmlns:p14="http://schemas.microsoft.com/office/powerpoint/2010/main" val="596623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D86E4-C17D-D929-C6B6-B9A4F95CB857}"/>
              </a:ext>
            </a:extLst>
          </p:cNvPr>
          <p:cNvSpPr>
            <a:spLocks noGrp="1"/>
          </p:cNvSpPr>
          <p:nvPr>
            <p:ph type="title"/>
          </p:nvPr>
        </p:nvSpPr>
        <p:spPr>
          <a:xfrm>
            <a:off x="838201" y="365125"/>
            <a:ext cx="5251316" cy="1807305"/>
          </a:xfrm>
        </p:spPr>
        <p:txBody>
          <a:bodyPr>
            <a:normAutofit/>
          </a:bodyPr>
          <a:lstStyle/>
          <a:p>
            <a:r>
              <a:rPr lang="en-US"/>
              <a:t>Modules, packages and libraries</a:t>
            </a:r>
            <a:endParaRPr lang="en-GB"/>
          </a:p>
        </p:txBody>
      </p:sp>
      <p:sp>
        <p:nvSpPr>
          <p:cNvPr id="6" name="Content Placeholder 5">
            <a:extLst>
              <a:ext uri="{FF2B5EF4-FFF2-40B4-BE49-F238E27FC236}">
                <a16:creationId xmlns:a16="http://schemas.microsoft.com/office/drawing/2014/main" id="{EEF43236-E3ED-48E4-6A89-2899A5691D56}"/>
              </a:ext>
            </a:extLst>
          </p:cNvPr>
          <p:cNvSpPr>
            <a:spLocks noGrp="1"/>
          </p:cNvSpPr>
          <p:nvPr>
            <p:ph idx="1"/>
          </p:nvPr>
        </p:nvSpPr>
        <p:spPr>
          <a:xfrm>
            <a:off x="838200" y="2333297"/>
            <a:ext cx="4619621" cy="3843666"/>
          </a:xfrm>
        </p:spPr>
        <p:txBody>
          <a:bodyPr>
            <a:normAutofit lnSpcReduction="10000"/>
          </a:bodyPr>
          <a:lstStyle/>
          <a:p>
            <a:r>
              <a:rPr lang="en-US" sz="2000"/>
              <a:t>The Tidy Kitchen Analogy</a:t>
            </a:r>
          </a:p>
          <a:p>
            <a:pPr lvl="1"/>
            <a:r>
              <a:rPr lang="en-US" sz="1600"/>
              <a:t>Modules are like the appliances in a kitchen</a:t>
            </a:r>
          </a:p>
          <a:p>
            <a:pPr lvl="1"/>
            <a:r>
              <a:rPr lang="en-US" sz="1600"/>
              <a:t>Some modules are always there (e.g., the fridge, the stove top)</a:t>
            </a:r>
          </a:p>
          <a:p>
            <a:pPr lvl="1"/>
            <a:r>
              <a:rPr lang="en-US" sz="1600"/>
              <a:t>Other modules you only get out of the cupboard when you need to use them (e.g., the waffle iron)</a:t>
            </a:r>
          </a:p>
          <a:p>
            <a:pPr lvl="1"/>
            <a:r>
              <a:rPr lang="en-US" sz="1600"/>
              <a:t>Some modules you have to go and “buy” if you don’t already own them (e.g., a smoothie maker)</a:t>
            </a:r>
          </a:p>
          <a:p>
            <a:pPr lvl="1"/>
            <a:endParaRPr lang="en-US" sz="1600"/>
          </a:p>
          <a:p>
            <a:r>
              <a:rPr lang="en-US" sz="2000"/>
              <a:t>Installing a module is like going to “buy” it (but you don’t have to pay!)</a:t>
            </a:r>
          </a:p>
          <a:p>
            <a:r>
              <a:rPr lang="en-US" sz="2000"/>
              <a:t>Importing a module is like getting it out of the cupboard</a:t>
            </a:r>
            <a:endParaRPr lang="en-GB" sz="2000"/>
          </a:p>
        </p:txBody>
      </p:sp>
      <p:pic>
        <p:nvPicPr>
          <p:cNvPr id="5" name="Picture 4" descr="A picture containing text, colorful&#10;&#10;Description automatically generated">
            <a:extLst>
              <a:ext uri="{FF2B5EF4-FFF2-40B4-BE49-F238E27FC236}">
                <a16:creationId xmlns:a16="http://schemas.microsoft.com/office/drawing/2014/main" id="{DFD1A0E2-C8CE-4297-6BD5-4C9FF881F343}"/>
              </a:ext>
            </a:extLst>
          </p:cNvPr>
          <p:cNvPicPr>
            <a:picLocks noChangeAspect="1"/>
          </p:cNvPicPr>
          <p:nvPr/>
        </p:nvPicPr>
        <p:blipFill rotWithShape="1">
          <a:blip r:embed="rId2">
            <a:extLst>
              <a:ext uri="{28A0092B-C50C-407E-A947-70E740481C1C}">
                <a14:useLocalDpi xmlns:a14="http://schemas.microsoft.com/office/drawing/2010/main" val="0"/>
              </a:ext>
            </a:extLst>
          </a:blip>
          <a:srcRect l="13053"/>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923821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637C7-4E63-B24E-66A9-587EC1A968A5}"/>
              </a:ext>
            </a:extLst>
          </p:cNvPr>
          <p:cNvSpPr>
            <a:spLocks noGrp="1"/>
          </p:cNvSpPr>
          <p:nvPr>
            <p:ph type="title"/>
          </p:nvPr>
        </p:nvSpPr>
        <p:spPr/>
        <p:txBody>
          <a:bodyPr/>
          <a:lstStyle/>
          <a:p>
            <a:r>
              <a:rPr lang="en-US"/>
              <a:t>Modules and packages</a:t>
            </a:r>
            <a:endParaRPr lang="en-GB"/>
          </a:p>
        </p:txBody>
      </p:sp>
      <p:sp>
        <p:nvSpPr>
          <p:cNvPr id="3" name="Content Placeholder 2">
            <a:extLst>
              <a:ext uri="{FF2B5EF4-FFF2-40B4-BE49-F238E27FC236}">
                <a16:creationId xmlns:a16="http://schemas.microsoft.com/office/drawing/2014/main" id="{D22446E5-BB43-AEE9-5609-1E52E4C6C8C7}"/>
              </a:ext>
            </a:extLst>
          </p:cNvPr>
          <p:cNvSpPr>
            <a:spLocks noGrp="1"/>
          </p:cNvSpPr>
          <p:nvPr>
            <p:ph idx="1"/>
          </p:nvPr>
        </p:nvSpPr>
        <p:spPr/>
        <p:txBody>
          <a:bodyPr/>
          <a:lstStyle/>
          <a:p>
            <a:r>
              <a:rPr lang="en-US"/>
              <a:t>Modules and packages allow you to add new possibilities to basic “vanilla” Python</a:t>
            </a:r>
          </a:p>
          <a:p>
            <a:r>
              <a:rPr lang="en-US"/>
              <a:t>A package is just a collection of modules</a:t>
            </a:r>
          </a:p>
          <a:p>
            <a:r>
              <a:rPr lang="en-US"/>
              <a:t>Using a module in your script involves two steps:</a:t>
            </a:r>
          </a:p>
          <a:p>
            <a:pPr lvl="1"/>
            <a:r>
              <a:rPr lang="en-US"/>
              <a:t>Installing it (if you don’t already have it)</a:t>
            </a:r>
          </a:p>
          <a:p>
            <a:pPr lvl="1"/>
            <a:r>
              <a:rPr lang="en-US"/>
              <a:t>Importing it into your script</a:t>
            </a:r>
            <a:endParaRPr lang="en-GB"/>
          </a:p>
        </p:txBody>
      </p:sp>
    </p:spTree>
    <p:extLst>
      <p:ext uri="{BB962C8B-B14F-4D97-AF65-F5344CB8AC3E}">
        <p14:creationId xmlns:p14="http://schemas.microsoft.com/office/powerpoint/2010/main" val="3089924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Importing a module</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1825625"/>
            <a:ext cx="10515600" cy="519752"/>
          </a:xfrm>
          <a:solidFill>
            <a:schemeClr val="bg2"/>
          </a:solidFill>
          <a:ln>
            <a:noFill/>
          </a:ln>
        </p:spPr>
        <p:txBody>
          <a:bodyPr/>
          <a:lstStyle/>
          <a:p>
            <a:pPr marL="0" indent="0">
              <a:buNone/>
            </a:pPr>
            <a:r>
              <a:rPr lang="en-US">
                <a:latin typeface="Consolas" panose="020B0609020204030204" pitchFamily="49" charset="0"/>
                <a:cs typeface="Courier New" panose="02070309020205020404" pitchFamily="49" charset="0"/>
              </a:rPr>
              <a:t>import numpy</a:t>
            </a:r>
          </a:p>
          <a:p>
            <a:endParaRPr lang="en-GB">
              <a:latin typeface="Consolas" panose="020B0609020204030204" pitchFamily="49" charset="0"/>
              <a:cs typeface="Courier New" panose="02070309020205020404" pitchFamily="49" charset="0"/>
            </a:endParaRPr>
          </a:p>
        </p:txBody>
      </p:sp>
      <p:sp>
        <p:nvSpPr>
          <p:cNvPr id="4" name="Content Placeholder 2">
            <a:extLst>
              <a:ext uri="{FF2B5EF4-FFF2-40B4-BE49-F238E27FC236}">
                <a16:creationId xmlns:a16="http://schemas.microsoft.com/office/drawing/2014/main" id="{D45A9760-33B5-9C10-D2FB-2854C0BEDD46}"/>
              </a:ext>
            </a:extLst>
          </p:cNvPr>
          <p:cNvSpPr txBox="1">
            <a:spLocks/>
          </p:cNvSpPr>
          <p:nvPr/>
        </p:nvSpPr>
        <p:spPr>
          <a:xfrm>
            <a:off x="838200" y="3355563"/>
            <a:ext cx="10515600" cy="1103622"/>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ages = [21, 33, 24, 21, 67, 43, 23]</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numpy.mean(ages)</a:t>
            </a:r>
          </a:p>
          <a:p>
            <a:endParaRPr lang="en-GB">
              <a:latin typeface="Consolas" panose="020B0609020204030204" pitchFamily="49" charset="0"/>
              <a:cs typeface="Courier New" panose="02070309020205020404" pitchFamily="49" charset="0"/>
            </a:endParaRPr>
          </a:p>
        </p:txBody>
      </p:sp>
    </p:spTree>
    <p:extLst>
      <p:ext uri="{BB962C8B-B14F-4D97-AF65-F5344CB8AC3E}">
        <p14:creationId xmlns:p14="http://schemas.microsoft.com/office/powerpoint/2010/main" val="1657094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Importing a module</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1825625"/>
            <a:ext cx="10515600" cy="519752"/>
          </a:xfrm>
          <a:solidFill>
            <a:schemeClr val="bg2"/>
          </a:solidFill>
          <a:ln>
            <a:noFill/>
          </a:ln>
        </p:spPr>
        <p:txBody>
          <a:bodyPr/>
          <a:lstStyle/>
          <a:p>
            <a:pPr marL="0" indent="0">
              <a:buNone/>
            </a:pPr>
            <a:r>
              <a:rPr lang="en-US">
                <a:latin typeface="Consolas" panose="020B0609020204030204" pitchFamily="49" charset="0"/>
                <a:cs typeface="Courier New" panose="02070309020205020404" pitchFamily="49" charset="0"/>
              </a:rPr>
              <a:t>import trompy</a:t>
            </a:r>
          </a:p>
          <a:p>
            <a:endParaRPr lang="en-GB">
              <a:latin typeface="Consolas" panose="020B0609020204030204" pitchFamily="49" charset="0"/>
              <a:cs typeface="Courier New" panose="02070309020205020404" pitchFamily="49" charset="0"/>
            </a:endParaRPr>
          </a:p>
        </p:txBody>
      </p:sp>
    </p:spTree>
    <p:extLst>
      <p:ext uri="{BB962C8B-B14F-4D97-AF65-F5344CB8AC3E}">
        <p14:creationId xmlns:p14="http://schemas.microsoft.com/office/powerpoint/2010/main" val="2068819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Installing a module</a:t>
            </a:r>
            <a:endParaRPr lang="en-GB"/>
          </a:p>
        </p:txBody>
      </p:sp>
      <p:sp>
        <p:nvSpPr>
          <p:cNvPr id="4" name="Content Placeholder 2">
            <a:extLst>
              <a:ext uri="{FF2B5EF4-FFF2-40B4-BE49-F238E27FC236}">
                <a16:creationId xmlns:a16="http://schemas.microsoft.com/office/drawing/2014/main" id="{8D2CF2E7-877E-ABC6-5DEF-CBD71BD9A4F6}"/>
              </a:ext>
            </a:extLst>
          </p:cNvPr>
          <p:cNvSpPr txBox="1">
            <a:spLocks/>
          </p:cNvSpPr>
          <p:nvPr/>
        </p:nvSpPr>
        <p:spPr>
          <a:xfrm>
            <a:off x="838200" y="1562389"/>
            <a:ext cx="10515600" cy="1691449"/>
          </a:xfrm>
          <a:prstGeom prst="rect">
            <a:avLst/>
          </a:prstGeom>
          <a:solidFill>
            <a:schemeClr val="accent1">
              <a:lumMod val="20000"/>
              <a:lumOff val="80000"/>
            </a:schemeClr>
          </a:solidFill>
          <a:ln>
            <a:no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Need to use the </a:t>
            </a:r>
            <a:r>
              <a:rPr lang="en-US" b="1">
                <a:cs typeface="Courier New" panose="02070309020205020404" pitchFamily="49" charset="0"/>
              </a:rPr>
              <a:t>command line interface (CLI)</a:t>
            </a:r>
            <a:r>
              <a:rPr lang="en-US">
                <a:cs typeface="Courier New" panose="02070309020205020404" pitchFamily="49" charset="0"/>
              </a:rPr>
              <a:t> *</a:t>
            </a:r>
          </a:p>
          <a:p>
            <a:pPr lvl="1"/>
            <a:r>
              <a:rPr lang="en-US">
                <a:cs typeface="Courier New" panose="02070309020205020404" pitchFamily="49" charset="0"/>
              </a:rPr>
              <a:t>aka </a:t>
            </a:r>
            <a:r>
              <a:rPr lang="en-US" b="1" u="sng">
                <a:cs typeface="Courier New" panose="02070309020205020404" pitchFamily="49" charset="0"/>
              </a:rPr>
              <a:t>the terminal </a:t>
            </a:r>
            <a:r>
              <a:rPr lang="en-US">
                <a:cs typeface="Courier New" panose="02070309020205020404" pitchFamily="49" charset="0"/>
              </a:rPr>
              <a:t>aka </a:t>
            </a:r>
            <a:r>
              <a:rPr lang="en-US" b="1" u="sng">
                <a:cs typeface="Courier New" panose="02070309020205020404" pitchFamily="49" charset="0"/>
              </a:rPr>
              <a:t>the shell </a:t>
            </a:r>
            <a:r>
              <a:rPr lang="en-US">
                <a:cs typeface="Courier New" panose="02070309020205020404" pitchFamily="49" charset="0"/>
              </a:rPr>
              <a:t>aka </a:t>
            </a:r>
            <a:r>
              <a:rPr lang="en-US" b="1" u="sng">
                <a:cs typeface="Courier New" panose="02070309020205020404" pitchFamily="49" charset="0"/>
              </a:rPr>
              <a:t>the command prompt</a:t>
            </a:r>
          </a:p>
          <a:p>
            <a:endParaRPr lang="en-US" b="1" u="sng">
              <a:cs typeface="Courier New" panose="02070309020205020404" pitchFamily="49" charset="0"/>
            </a:endParaRPr>
          </a:p>
          <a:p>
            <a:r>
              <a:rPr lang="en-US">
                <a:cs typeface="Courier New" panose="02070309020205020404" pitchFamily="49" charset="0"/>
              </a:rPr>
              <a:t>First step is to open an Anaconda prompt…</a:t>
            </a:r>
            <a:endParaRPr lang="en-GB">
              <a:cs typeface="Courier New" panose="02070309020205020404" pitchFamily="49" charset="0"/>
            </a:endParaRPr>
          </a:p>
        </p:txBody>
      </p:sp>
    </p:spTree>
    <p:extLst>
      <p:ext uri="{BB962C8B-B14F-4D97-AF65-F5344CB8AC3E}">
        <p14:creationId xmlns:p14="http://schemas.microsoft.com/office/powerpoint/2010/main" val="2334323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C7852-2AB1-DF24-FB89-13D0D2589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DA010D-DD38-A15D-3E40-16ECE4B50FE0}"/>
              </a:ext>
            </a:extLst>
          </p:cNvPr>
          <p:cNvSpPr>
            <a:spLocks noGrp="1"/>
          </p:cNvSpPr>
          <p:nvPr>
            <p:ph type="title"/>
          </p:nvPr>
        </p:nvSpPr>
        <p:spPr/>
        <p:txBody>
          <a:bodyPr/>
          <a:lstStyle/>
          <a:p>
            <a:r>
              <a:rPr lang="en-US"/>
              <a:t>The terminal</a:t>
            </a:r>
            <a:endParaRPr lang="en-GB"/>
          </a:p>
        </p:txBody>
      </p:sp>
      <p:sp>
        <p:nvSpPr>
          <p:cNvPr id="4" name="Content Placeholder 2">
            <a:extLst>
              <a:ext uri="{FF2B5EF4-FFF2-40B4-BE49-F238E27FC236}">
                <a16:creationId xmlns:a16="http://schemas.microsoft.com/office/drawing/2014/main" id="{B70BA50D-C921-D084-B9B3-73F8336790C8}"/>
              </a:ext>
            </a:extLst>
          </p:cNvPr>
          <p:cNvSpPr txBox="1">
            <a:spLocks/>
          </p:cNvSpPr>
          <p:nvPr/>
        </p:nvSpPr>
        <p:spPr>
          <a:xfrm>
            <a:off x="838200" y="1562390"/>
            <a:ext cx="10515600" cy="614754"/>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Allows you to interact directly with your computer’s operating system</a:t>
            </a:r>
            <a:endParaRPr lang="en-GB">
              <a:cs typeface="Courier New" panose="02070309020205020404" pitchFamily="49" charset="0"/>
            </a:endParaRPr>
          </a:p>
        </p:txBody>
      </p:sp>
      <p:pic>
        <p:nvPicPr>
          <p:cNvPr id="5" name="Picture 4">
            <a:extLst>
              <a:ext uri="{FF2B5EF4-FFF2-40B4-BE49-F238E27FC236}">
                <a16:creationId xmlns:a16="http://schemas.microsoft.com/office/drawing/2014/main" id="{24A749A4-9E9D-E67B-15A7-DCD6B22B5651}"/>
              </a:ext>
            </a:extLst>
          </p:cNvPr>
          <p:cNvPicPr>
            <a:picLocks noChangeAspect="1"/>
          </p:cNvPicPr>
          <p:nvPr/>
        </p:nvPicPr>
        <p:blipFill>
          <a:blip r:embed="rId2"/>
          <a:stretch>
            <a:fillRect/>
          </a:stretch>
        </p:blipFill>
        <p:spPr>
          <a:xfrm>
            <a:off x="2018805" y="2427833"/>
            <a:ext cx="7631874" cy="4065042"/>
          </a:xfrm>
          <a:prstGeom prst="rect">
            <a:avLst/>
          </a:prstGeom>
        </p:spPr>
      </p:pic>
    </p:spTree>
    <p:extLst>
      <p:ext uri="{BB962C8B-B14F-4D97-AF65-F5344CB8AC3E}">
        <p14:creationId xmlns:p14="http://schemas.microsoft.com/office/powerpoint/2010/main" val="1845003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3E6C3-2195-C6A1-8D7F-303C5338866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E43B6A6-E57C-3969-994F-FD840EFCEE0C}"/>
              </a:ext>
            </a:extLst>
          </p:cNvPr>
          <p:cNvPicPr>
            <a:picLocks noChangeAspect="1"/>
          </p:cNvPicPr>
          <p:nvPr/>
        </p:nvPicPr>
        <p:blipFill>
          <a:blip r:embed="rId2"/>
          <a:stretch>
            <a:fillRect/>
          </a:stretch>
        </p:blipFill>
        <p:spPr>
          <a:xfrm>
            <a:off x="0" y="0"/>
            <a:ext cx="12875486" cy="6858000"/>
          </a:xfrm>
          <a:prstGeom prst="rect">
            <a:avLst/>
          </a:prstGeom>
        </p:spPr>
      </p:pic>
      <p:sp>
        <p:nvSpPr>
          <p:cNvPr id="7" name="Rectangle 6">
            <a:extLst>
              <a:ext uri="{FF2B5EF4-FFF2-40B4-BE49-F238E27FC236}">
                <a16:creationId xmlns:a16="http://schemas.microsoft.com/office/drawing/2014/main" id="{EECCDEBE-6F30-4D8E-BD1D-F8F6952B1582}"/>
              </a:ext>
            </a:extLst>
          </p:cNvPr>
          <p:cNvSpPr/>
          <p:nvPr/>
        </p:nvSpPr>
        <p:spPr>
          <a:xfrm>
            <a:off x="724395" y="3123210"/>
            <a:ext cx="2576945" cy="463138"/>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32269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896A6-E163-1E59-B6FC-57490FCD0D0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53C3DCA-416D-7BC7-DC07-246DFCA8FD7B}"/>
              </a:ext>
            </a:extLst>
          </p:cNvPr>
          <p:cNvPicPr>
            <a:picLocks noChangeAspect="1"/>
          </p:cNvPicPr>
          <p:nvPr/>
        </p:nvPicPr>
        <p:blipFill>
          <a:blip r:embed="rId2"/>
          <a:stretch>
            <a:fillRect/>
          </a:stretch>
        </p:blipFill>
        <p:spPr>
          <a:xfrm>
            <a:off x="0" y="0"/>
            <a:ext cx="12875486" cy="6858000"/>
          </a:xfrm>
          <a:prstGeom prst="rect">
            <a:avLst/>
          </a:prstGeom>
        </p:spPr>
      </p:pic>
      <p:sp>
        <p:nvSpPr>
          <p:cNvPr id="7" name="Rectangle 6">
            <a:extLst>
              <a:ext uri="{FF2B5EF4-FFF2-40B4-BE49-F238E27FC236}">
                <a16:creationId xmlns:a16="http://schemas.microsoft.com/office/drawing/2014/main" id="{18FFBC19-7F0E-922C-B94E-FD70CA01A82A}"/>
              </a:ext>
            </a:extLst>
          </p:cNvPr>
          <p:cNvSpPr/>
          <p:nvPr/>
        </p:nvSpPr>
        <p:spPr>
          <a:xfrm>
            <a:off x="3162796" y="3114246"/>
            <a:ext cx="1041652" cy="463138"/>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46895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53738-4BCC-1B0C-CBEB-6108B59E3BE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3940A75-2EA1-AABA-7786-64C580083258}"/>
              </a:ext>
            </a:extLst>
          </p:cNvPr>
          <p:cNvPicPr>
            <a:picLocks noChangeAspect="1"/>
          </p:cNvPicPr>
          <p:nvPr/>
        </p:nvPicPr>
        <p:blipFill>
          <a:blip r:embed="rId2"/>
          <a:stretch>
            <a:fillRect/>
          </a:stretch>
        </p:blipFill>
        <p:spPr>
          <a:xfrm>
            <a:off x="0" y="0"/>
            <a:ext cx="12875486" cy="6858000"/>
          </a:xfrm>
          <a:prstGeom prst="rect">
            <a:avLst/>
          </a:prstGeom>
        </p:spPr>
      </p:pic>
      <p:sp>
        <p:nvSpPr>
          <p:cNvPr id="7" name="Rectangle 6">
            <a:extLst>
              <a:ext uri="{FF2B5EF4-FFF2-40B4-BE49-F238E27FC236}">
                <a16:creationId xmlns:a16="http://schemas.microsoft.com/office/drawing/2014/main" id="{93C8FA7A-2E8B-DEDD-5971-CA9FA2BFA49B}"/>
              </a:ext>
            </a:extLst>
          </p:cNvPr>
          <p:cNvSpPr/>
          <p:nvPr/>
        </p:nvSpPr>
        <p:spPr>
          <a:xfrm>
            <a:off x="3772396" y="3532258"/>
            <a:ext cx="512221" cy="463138"/>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67079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48996-BD29-A97A-4D2D-A73440C86C8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A889232-A5D0-20C5-895B-BCBB6D4CB8FE}"/>
              </a:ext>
            </a:extLst>
          </p:cNvPr>
          <p:cNvPicPr>
            <a:picLocks noChangeAspect="1"/>
          </p:cNvPicPr>
          <p:nvPr/>
        </p:nvPicPr>
        <p:blipFill>
          <a:blip r:embed="rId2"/>
          <a:stretch>
            <a:fillRect/>
          </a:stretch>
        </p:blipFill>
        <p:spPr>
          <a:xfrm>
            <a:off x="0" y="0"/>
            <a:ext cx="12875486" cy="6858000"/>
          </a:xfrm>
          <a:prstGeom prst="rect">
            <a:avLst/>
          </a:prstGeom>
        </p:spPr>
      </p:pic>
      <p:sp>
        <p:nvSpPr>
          <p:cNvPr id="7" name="Rectangle 6">
            <a:extLst>
              <a:ext uri="{FF2B5EF4-FFF2-40B4-BE49-F238E27FC236}">
                <a16:creationId xmlns:a16="http://schemas.microsoft.com/office/drawing/2014/main" id="{15C09D1C-0CBE-3DDA-D025-213E8132763B}"/>
              </a:ext>
            </a:extLst>
          </p:cNvPr>
          <p:cNvSpPr/>
          <p:nvPr/>
        </p:nvSpPr>
        <p:spPr>
          <a:xfrm>
            <a:off x="134470" y="3863184"/>
            <a:ext cx="11573435" cy="197284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6245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DD7F9-9425-7085-B394-6C177C50423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BBDDD84-33C1-0399-0B2E-EC583A143084}"/>
              </a:ext>
            </a:extLst>
          </p:cNvPr>
          <p:cNvPicPr>
            <a:picLocks noChangeAspect="1"/>
          </p:cNvPicPr>
          <p:nvPr/>
        </p:nvPicPr>
        <p:blipFill>
          <a:blip r:embed="rId2"/>
          <a:stretch>
            <a:fillRect/>
          </a:stretch>
        </p:blipFill>
        <p:spPr>
          <a:xfrm>
            <a:off x="0" y="0"/>
            <a:ext cx="12875486" cy="6858000"/>
          </a:xfrm>
          <a:prstGeom prst="rect">
            <a:avLst/>
          </a:prstGeom>
        </p:spPr>
      </p:pic>
      <p:sp>
        <p:nvSpPr>
          <p:cNvPr id="7" name="Rectangle 6">
            <a:extLst>
              <a:ext uri="{FF2B5EF4-FFF2-40B4-BE49-F238E27FC236}">
                <a16:creationId xmlns:a16="http://schemas.microsoft.com/office/drawing/2014/main" id="{EE202EA5-F369-B669-6DEF-14C8D0F64EBC}"/>
              </a:ext>
            </a:extLst>
          </p:cNvPr>
          <p:cNvSpPr/>
          <p:nvPr/>
        </p:nvSpPr>
        <p:spPr>
          <a:xfrm>
            <a:off x="0" y="3128681"/>
            <a:ext cx="923365" cy="421341"/>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62531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D7C4B-F5A5-CDCD-F985-934F52C924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44915D-0017-00B7-D24C-3C662EA286AC}"/>
              </a:ext>
            </a:extLst>
          </p:cNvPr>
          <p:cNvSpPr>
            <a:spLocks noGrp="1"/>
          </p:cNvSpPr>
          <p:nvPr>
            <p:ph type="title"/>
          </p:nvPr>
        </p:nvSpPr>
        <p:spPr/>
        <p:txBody>
          <a:bodyPr/>
          <a:lstStyle/>
          <a:p>
            <a:r>
              <a:rPr lang="en-US"/>
              <a:t>Installing a module</a:t>
            </a:r>
            <a:endParaRPr lang="en-GB"/>
          </a:p>
        </p:txBody>
      </p:sp>
      <p:sp>
        <p:nvSpPr>
          <p:cNvPr id="3" name="Content Placeholder 2">
            <a:extLst>
              <a:ext uri="{FF2B5EF4-FFF2-40B4-BE49-F238E27FC236}">
                <a16:creationId xmlns:a16="http://schemas.microsoft.com/office/drawing/2014/main" id="{E0A4F9AD-649A-5D84-AA4A-E803F3659A14}"/>
              </a:ext>
            </a:extLst>
          </p:cNvPr>
          <p:cNvSpPr>
            <a:spLocks noGrp="1"/>
          </p:cNvSpPr>
          <p:nvPr>
            <p:ph idx="1"/>
          </p:nvPr>
        </p:nvSpPr>
        <p:spPr>
          <a:xfrm>
            <a:off x="838200" y="3640839"/>
            <a:ext cx="10515600" cy="519752"/>
          </a:xfrm>
          <a:solidFill>
            <a:schemeClr val="bg2"/>
          </a:solidFill>
          <a:ln>
            <a:noFill/>
          </a:ln>
        </p:spPr>
        <p:txBody>
          <a:bodyPr/>
          <a:lstStyle/>
          <a:p>
            <a:pPr marL="0" indent="0">
              <a:buNone/>
            </a:pPr>
            <a:r>
              <a:rPr lang="en-US">
                <a:latin typeface="Consolas" panose="020B0609020204030204" pitchFamily="49" charset="0"/>
                <a:cs typeface="Courier New" panose="02070309020205020404" pitchFamily="49" charset="0"/>
              </a:rPr>
              <a:t>pip install trompy</a:t>
            </a:r>
          </a:p>
          <a:p>
            <a:endParaRPr lang="en-GB">
              <a:latin typeface="Consolas" panose="020B0609020204030204" pitchFamily="49" charset="0"/>
              <a:cs typeface="Courier New" panose="02070309020205020404" pitchFamily="49" charset="0"/>
            </a:endParaRPr>
          </a:p>
        </p:txBody>
      </p:sp>
      <p:sp>
        <p:nvSpPr>
          <p:cNvPr id="4" name="Content Placeholder 2">
            <a:extLst>
              <a:ext uri="{FF2B5EF4-FFF2-40B4-BE49-F238E27FC236}">
                <a16:creationId xmlns:a16="http://schemas.microsoft.com/office/drawing/2014/main" id="{56FFF48A-06B0-BF79-98C7-E44D9A016FE9}"/>
              </a:ext>
            </a:extLst>
          </p:cNvPr>
          <p:cNvSpPr txBox="1">
            <a:spLocks/>
          </p:cNvSpPr>
          <p:nvPr/>
        </p:nvSpPr>
        <p:spPr>
          <a:xfrm>
            <a:off x="838200" y="1562389"/>
            <a:ext cx="10515600" cy="1691449"/>
          </a:xfrm>
          <a:prstGeom prst="rect">
            <a:avLst/>
          </a:prstGeom>
          <a:solidFill>
            <a:schemeClr val="accent1">
              <a:lumMod val="20000"/>
              <a:lumOff val="80000"/>
            </a:schemeClr>
          </a:solidFill>
          <a:ln>
            <a:no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Need to use the </a:t>
            </a:r>
            <a:r>
              <a:rPr lang="en-US" b="1">
                <a:cs typeface="Courier New" panose="02070309020205020404" pitchFamily="49" charset="0"/>
              </a:rPr>
              <a:t>command line interface (CLI)</a:t>
            </a:r>
            <a:r>
              <a:rPr lang="en-US">
                <a:cs typeface="Courier New" panose="02070309020205020404" pitchFamily="49" charset="0"/>
              </a:rPr>
              <a:t> *</a:t>
            </a:r>
          </a:p>
          <a:p>
            <a:pPr lvl="1"/>
            <a:r>
              <a:rPr lang="en-US">
                <a:cs typeface="Courier New" panose="02070309020205020404" pitchFamily="49" charset="0"/>
              </a:rPr>
              <a:t>aka </a:t>
            </a:r>
            <a:r>
              <a:rPr lang="en-US" b="1" u="sng">
                <a:cs typeface="Courier New" panose="02070309020205020404" pitchFamily="49" charset="0"/>
              </a:rPr>
              <a:t>the terminal </a:t>
            </a:r>
            <a:r>
              <a:rPr lang="en-US">
                <a:cs typeface="Courier New" panose="02070309020205020404" pitchFamily="49" charset="0"/>
              </a:rPr>
              <a:t>aka </a:t>
            </a:r>
            <a:r>
              <a:rPr lang="en-US" b="1" u="sng">
                <a:cs typeface="Courier New" panose="02070309020205020404" pitchFamily="49" charset="0"/>
              </a:rPr>
              <a:t>the shell </a:t>
            </a:r>
            <a:r>
              <a:rPr lang="en-US">
                <a:cs typeface="Courier New" panose="02070309020205020404" pitchFamily="49" charset="0"/>
              </a:rPr>
              <a:t>aka </a:t>
            </a:r>
            <a:r>
              <a:rPr lang="en-US" b="1" u="sng">
                <a:cs typeface="Courier New" panose="02070309020205020404" pitchFamily="49" charset="0"/>
              </a:rPr>
              <a:t>the command prompt</a:t>
            </a:r>
          </a:p>
          <a:p>
            <a:endParaRPr lang="en-US" b="1" u="sng">
              <a:cs typeface="Courier New" panose="02070309020205020404" pitchFamily="49" charset="0"/>
            </a:endParaRPr>
          </a:p>
          <a:p>
            <a:r>
              <a:rPr lang="en-US">
                <a:cs typeface="Courier New" panose="02070309020205020404" pitchFamily="49" charset="0"/>
              </a:rPr>
              <a:t>First step is to open an Anaconda prompt…</a:t>
            </a:r>
            <a:endParaRPr lang="en-GB">
              <a:cs typeface="Courier New" panose="02070309020205020404" pitchFamily="49" charset="0"/>
            </a:endParaRPr>
          </a:p>
        </p:txBody>
      </p:sp>
      <p:sp>
        <p:nvSpPr>
          <p:cNvPr id="5" name="Content Placeholder 2">
            <a:extLst>
              <a:ext uri="{FF2B5EF4-FFF2-40B4-BE49-F238E27FC236}">
                <a16:creationId xmlns:a16="http://schemas.microsoft.com/office/drawing/2014/main" id="{0DB96509-D306-055B-6FAA-1AE38C347D0D}"/>
              </a:ext>
            </a:extLst>
          </p:cNvPr>
          <p:cNvSpPr txBox="1">
            <a:spLocks/>
          </p:cNvSpPr>
          <p:nvPr/>
        </p:nvSpPr>
        <p:spPr>
          <a:xfrm>
            <a:off x="838200" y="4612368"/>
            <a:ext cx="10515600" cy="1691449"/>
          </a:xfrm>
          <a:prstGeom prst="rect">
            <a:avLst/>
          </a:prstGeom>
          <a:solidFill>
            <a:schemeClr val="accent1">
              <a:lumMod val="20000"/>
              <a:lumOff val="80000"/>
            </a:schemeClr>
          </a:solidFill>
          <a:ln>
            <a:no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Can also use Anaconda to install many packages, e.g. conda install …</a:t>
            </a:r>
          </a:p>
          <a:p>
            <a:r>
              <a:rPr lang="en-US">
                <a:cs typeface="Courier New" panose="02070309020205020404" pitchFamily="49" charset="0"/>
              </a:rPr>
              <a:t>Can see packages at pypi.com</a:t>
            </a:r>
          </a:p>
          <a:p>
            <a:r>
              <a:rPr lang="en-US">
                <a:cs typeface="Courier New" panose="02070309020205020404" pitchFamily="49" charset="0"/>
              </a:rPr>
              <a:t>Best way to find out how is to google “install [packagename] in python”</a:t>
            </a:r>
            <a:endParaRPr lang="en-GB">
              <a:cs typeface="Courier New" panose="02070309020205020404" pitchFamily="49" charset="0"/>
            </a:endParaRPr>
          </a:p>
        </p:txBody>
      </p:sp>
    </p:spTree>
    <p:extLst>
      <p:ext uri="{BB962C8B-B14F-4D97-AF65-F5344CB8AC3E}">
        <p14:creationId xmlns:p14="http://schemas.microsoft.com/office/powerpoint/2010/main" val="3161424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Importing a module</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1825625"/>
            <a:ext cx="10515600" cy="519752"/>
          </a:xfrm>
          <a:solidFill>
            <a:schemeClr val="bg2"/>
          </a:solidFill>
          <a:ln>
            <a:noFill/>
          </a:ln>
        </p:spPr>
        <p:txBody>
          <a:bodyPr/>
          <a:lstStyle/>
          <a:p>
            <a:pPr marL="0" indent="0">
              <a:buNone/>
            </a:pPr>
            <a:r>
              <a:rPr lang="en-US">
                <a:latin typeface="Consolas" panose="020B0609020204030204" pitchFamily="49" charset="0"/>
                <a:cs typeface="Courier New" panose="02070309020205020404" pitchFamily="49" charset="0"/>
              </a:rPr>
              <a:t>import trompy</a:t>
            </a:r>
          </a:p>
          <a:p>
            <a:endParaRPr lang="en-GB">
              <a:latin typeface="Consolas" panose="020B0609020204030204" pitchFamily="49" charset="0"/>
              <a:cs typeface="Courier New" panose="02070309020205020404" pitchFamily="49" charset="0"/>
            </a:endParaRPr>
          </a:p>
        </p:txBody>
      </p:sp>
      <p:sp>
        <p:nvSpPr>
          <p:cNvPr id="4" name="Content Placeholder 2">
            <a:extLst>
              <a:ext uri="{FF2B5EF4-FFF2-40B4-BE49-F238E27FC236}">
                <a16:creationId xmlns:a16="http://schemas.microsoft.com/office/drawing/2014/main" id="{C46066E7-70DB-DE64-E2CE-70D034BD1F9B}"/>
              </a:ext>
            </a:extLst>
          </p:cNvPr>
          <p:cNvSpPr txBox="1">
            <a:spLocks/>
          </p:cNvSpPr>
          <p:nvPr/>
        </p:nvSpPr>
        <p:spPr>
          <a:xfrm>
            <a:off x="838200" y="4081498"/>
            <a:ext cx="10515600" cy="1103622"/>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ages = [21, 33, 24, 21,, 67, 43, 23]</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trompy.mean_and_sem(ages)</a:t>
            </a:r>
          </a:p>
          <a:p>
            <a:endParaRPr lang="en-GB">
              <a:latin typeface="Consolas" panose="020B0609020204030204" pitchFamily="49" charset="0"/>
              <a:cs typeface="Courier New" panose="02070309020205020404" pitchFamily="49" charset="0"/>
            </a:endParaRPr>
          </a:p>
        </p:txBody>
      </p:sp>
      <p:sp>
        <p:nvSpPr>
          <p:cNvPr id="5" name="Content Placeholder 2">
            <a:extLst>
              <a:ext uri="{FF2B5EF4-FFF2-40B4-BE49-F238E27FC236}">
                <a16:creationId xmlns:a16="http://schemas.microsoft.com/office/drawing/2014/main" id="{18493357-640C-1E1C-C215-1734C03D8758}"/>
              </a:ext>
            </a:extLst>
          </p:cNvPr>
          <p:cNvSpPr txBox="1">
            <a:spLocks/>
          </p:cNvSpPr>
          <p:nvPr/>
        </p:nvSpPr>
        <p:spPr>
          <a:xfrm>
            <a:off x="838200" y="2809503"/>
            <a:ext cx="10515600" cy="617306"/>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print(dir(trompy))</a:t>
            </a:r>
          </a:p>
          <a:p>
            <a:endParaRPr lang="en-GB">
              <a:latin typeface="Consolas" panose="020B0609020204030204" pitchFamily="49" charset="0"/>
              <a:cs typeface="Courier New" panose="02070309020205020404" pitchFamily="49" charset="0"/>
            </a:endParaRPr>
          </a:p>
        </p:txBody>
      </p:sp>
    </p:spTree>
    <p:extLst>
      <p:ext uri="{BB962C8B-B14F-4D97-AF65-F5344CB8AC3E}">
        <p14:creationId xmlns:p14="http://schemas.microsoft.com/office/powerpoint/2010/main" val="1678888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Loading data</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2572501"/>
            <a:ext cx="10515600" cy="519752"/>
          </a:xfrm>
          <a:solidFill>
            <a:schemeClr val="bg2"/>
          </a:solidFill>
          <a:ln>
            <a:noFill/>
          </a:ln>
        </p:spPr>
        <p:txBody>
          <a:bodyPr/>
          <a:lstStyle/>
          <a:p>
            <a:pPr marL="0" indent="0">
              <a:buNone/>
            </a:pPr>
            <a:r>
              <a:rPr lang="en-US">
                <a:latin typeface="Consolas" panose="020B0609020204030204" pitchFamily="49" charset="0"/>
                <a:cs typeface="Courier New" panose="02070309020205020404" pitchFamily="49" charset="0"/>
              </a:rPr>
              <a:t>import numpy</a:t>
            </a:r>
          </a:p>
          <a:p>
            <a:endParaRPr lang="en-GB">
              <a:latin typeface="Consolas" panose="020B0609020204030204" pitchFamily="49" charset="0"/>
              <a:cs typeface="Courier New" panose="02070309020205020404" pitchFamily="49" charset="0"/>
            </a:endParaRPr>
          </a:p>
        </p:txBody>
      </p:sp>
      <p:sp>
        <p:nvSpPr>
          <p:cNvPr id="4" name="Content Placeholder 2">
            <a:extLst>
              <a:ext uri="{FF2B5EF4-FFF2-40B4-BE49-F238E27FC236}">
                <a16:creationId xmlns:a16="http://schemas.microsoft.com/office/drawing/2014/main" id="{D45A9760-33B5-9C10-D2FB-2854C0BEDD46}"/>
              </a:ext>
            </a:extLst>
          </p:cNvPr>
          <p:cNvSpPr txBox="1">
            <a:spLocks/>
          </p:cNvSpPr>
          <p:nvPr/>
        </p:nvSpPr>
        <p:spPr>
          <a:xfrm>
            <a:off x="838200" y="3355563"/>
            <a:ext cx="10515600" cy="1103622"/>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filename = “path-to-file/Pearson.txt”</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data = numpy.loadtxt(filename)</a:t>
            </a:r>
          </a:p>
          <a:p>
            <a:endParaRPr lang="en-GB">
              <a:latin typeface="Consolas" panose="020B0609020204030204" pitchFamily="49" charset="0"/>
              <a:cs typeface="Courier New" panose="02070309020205020404" pitchFamily="49" charset="0"/>
            </a:endParaRPr>
          </a:p>
        </p:txBody>
      </p:sp>
      <p:sp>
        <p:nvSpPr>
          <p:cNvPr id="5" name="Content Placeholder 2">
            <a:extLst>
              <a:ext uri="{FF2B5EF4-FFF2-40B4-BE49-F238E27FC236}">
                <a16:creationId xmlns:a16="http://schemas.microsoft.com/office/drawing/2014/main" id="{BB96F6C7-AE1D-11C4-9ED8-52E1FFC23933}"/>
              </a:ext>
            </a:extLst>
          </p:cNvPr>
          <p:cNvSpPr txBox="1">
            <a:spLocks/>
          </p:cNvSpPr>
          <p:nvPr/>
        </p:nvSpPr>
        <p:spPr>
          <a:xfrm>
            <a:off x="838200" y="1562390"/>
            <a:ext cx="10515600" cy="580518"/>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Download the file “Pearson.txt” from Canvas</a:t>
            </a:r>
            <a:endParaRPr lang="en-GB">
              <a:cs typeface="Courier New" panose="02070309020205020404" pitchFamily="49" charset="0"/>
            </a:endParaRPr>
          </a:p>
        </p:txBody>
      </p:sp>
      <p:sp>
        <p:nvSpPr>
          <p:cNvPr id="6" name="Content Placeholder 2">
            <a:extLst>
              <a:ext uri="{FF2B5EF4-FFF2-40B4-BE49-F238E27FC236}">
                <a16:creationId xmlns:a16="http://schemas.microsoft.com/office/drawing/2014/main" id="{670ECAB8-003A-0EBF-3725-58CB3D47D2C9}"/>
              </a:ext>
            </a:extLst>
          </p:cNvPr>
          <p:cNvSpPr txBox="1">
            <a:spLocks/>
          </p:cNvSpPr>
          <p:nvPr/>
        </p:nvSpPr>
        <p:spPr>
          <a:xfrm>
            <a:off x="838200" y="4828052"/>
            <a:ext cx="10515600" cy="1852649"/>
          </a:xfrm>
          <a:prstGeom prst="rect">
            <a:avLst/>
          </a:prstGeom>
          <a:solidFill>
            <a:schemeClr val="accent1">
              <a:lumMod val="20000"/>
              <a:lumOff val="80000"/>
            </a:schemeClr>
          </a:solidFill>
          <a:ln>
            <a:no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For this to work need to include numpy argument to skip rows. Also check name of the file, is it Pearson-1.csv?</a:t>
            </a:r>
          </a:p>
          <a:p>
            <a:r>
              <a:rPr lang="en-US">
                <a:cs typeface="Courier New" panose="02070309020205020404" pitchFamily="49" charset="0"/>
              </a:rPr>
              <a:t>There are many different sort of data files but some of the simplest and easiest to deal with are…</a:t>
            </a:r>
          </a:p>
          <a:p>
            <a:pPr lvl="1"/>
            <a:r>
              <a:rPr lang="en-US">
                <a:cs typeface="Courier New" panose="02070309020205020404" pitchFamily="49" charset="0"/>
              </a:rPr>
              <a:t>.txt files and .csv files</a:t>
            </a:r>
          </a:p>
        </p:txBody>
      </p:sp>
    </p:spTree>
    <p:extLst>
      <p:ext uri="{BB962C8B-B14F-4D97-AF65-F5344CB8AC3E}">
        <p14:creationId xmlns:p14="http://schemas.microsoft.com/office/powerpoint/2010/main" val="668717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Thinking about data structures</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3584623"/>
            <a:ext cx="10515600" cy="1629552"/>
          </a:xfrm>
          <a:solidFill>
            <a:schemeClr val="bg2"/>
          </a:solidFill>
          <a:ln>
            <a:noFill/>
          </a:ln>
        </p:spPr>
        <p:txBody>
          <a:bodyPr/>
          <a:lstStyle/>
          <a:p>
            <a:pPr marL="0" indent="0">
              <a:buNone/>
            </a:pPr>
            <a:r>
              <a:rPr lang="en-US">
                <a:latin typeface="Consolas" panose="020B0609020204030204" pitchFamily="49" charset="0"/>
                <a:cs typeface="Courier New" panose="02070309020205020404" pitchFamily="49" charset="0"/>
              </a:rPr>
              <a:t>data[:,0] # selects all rows, first column </a:t>
            </a:r>
          </a:p>
          <a:p>
            <a:pPr marL="0" indent="0">
              <a:buNone/>
            </a:pPr>
            <a:r>
              <a:rPr lang="en-US">
                <a:latin typeface="Consolas" panose="020B0609020204030204" pitchFamily="49" charset="0"/>
                <a:cs typeface="Courier New" panose="02070309020205020404" pitchFamily="49" charset="0"/>
              </a:rPr>
              <a:t>data[:,1] # selects all rows, second column</a:t>
            </a:r>
          </a:p>
          <a:p>
            <a:pPr marL="0" indent="0">
              <a:buNone/>
            </a:pPr>
            <a:r>
              <a:rPr lang="en-US">
                <a:latin typeface="Consolas" panose="020B0609020204030204" pitchFamily="49" charset="0"/>
                <a:cs typeface="Courier New" panose="02070309020205020404" pitchFamily="49" charset="0"/>
              </a:rPr>
              <a:t>data[5,:] # what does this select?</a:t>
            </a:r>
          </a:p>
          <a:p>
            <a:pPr marL="0" indent="0">
              <a:buNone/>
            </a:pPr>
            <a:endParaRPr lang="en-US">
              <a:latin typeface="Consolas" panose="020B0609020204030204" pitchFamily="49" charset="0"/>
              <a:cs typeface="Courier New" panose="02070309020205020404" pitchFamily="49" charset="0"/>
            </a:endParaRPr>
          </a:p>
          <a:p>
            <a:endParaRPr lang="en-GB">
              <a:latin typeface="Consolas" panose="020B0609020204030204" pitchFamily="49" charset="0"/>
              <a:cs typeface="Courier New" panose="02070309020205020404" pitchFamily="49" charset="0"/>
            </a:endParaRPr>
          </a:p>
        </p:txBody>
      </p:sp>
      <p:sp>
        <p:nvSpPr>
          <p:cNvPr id="5" name="Content Placeholder 2">
            <a:extLst>
              <a:ext uri="{FF2B5EF4-FFF2-40B4-BE49-F238E27FC236}">
                <a16:creationId xmlns:a16="http://schemas.microsoft.com/office/drawing/2014/main" id="{BB96F6C7-AE1D-11C4-9ED8-52E1FFC23933}"/>
              </a:ext>
            </a:extLst>
          </p:cNvPr>
          <p:cNvSpPr txBox="1">
            <a:spLocks/>
          </p:cNvSpPr>
          <p:nvPr/>
        </p:nvSpPr>
        <p:spPr>
          <a:xfrm>
            <a:off x="838200" y="1562390"/>
            <a:ext cx="10515600" cy="1473976"/>
          </a:xfrm>
          <a:prstGeom prst="rect">
            <a:avLst/>
          </a:prstGeom>
          <a:solidFill>
            <a:schemeClr val="accent1">
              <a:lumMod val="20000"/>
              <a:lumOff val="80000"/>
            </a:schemeClr>
          </a:solidFill>
          <a:ln>
            <a:no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numpy data arrays are more </a:t>
            </a:r>
            <a:r>
              <a:rPr lang="en-US" i="1">
                <a:cs typeface="Courier New" panose="02070309020205020404" pitchFamily="49" charset="0"/>
              </a:rPr>
              <a:t>spreadsheet-like</a:t>
            </a:r>
          </a:p>
          <a:p>
            <a:r>
              <a:rPr lang="en-US">
                <a:cs typeface="Courier New" panose="02070309020205020404" pitchFamily="49" charset="0"/>
              </a:rPr>
              <a:t>Can have one, two, three, or more axes</a:t>
            </a:r>
          </a:p>
          <a:p>
            <a:r>
              <a:rPr lang="en-US">
                <a:cs typeface="Courier New" panose="02070309020205020404" pitchFamily="49" charset="0"/>
              </a:rPr>
              <a:t>Indexing is similar but a bit different to lists</a:t>
            </a:r>
            <a:endParaRPr lang="en-GB">
              <a:cs typeface="Courier New" panose="02070309020205020404" pitchFamily="49" charset="0"/>
            </a:endParaRPr>
          </a:p>
        </p:txBody>
      </p:sp>
    </p:spTree>
    <p:extLst>
      <p:ext uri="{BB962C8B-B14F-4D97-AF65-F5344CB8AC3E}">
        <p14:creationId xmlns:p14="http://schemas.microsoft.com/office/powerpoint/2010/main" val="3259090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Thinking about data structures</a:t>
            </a:r>
            <a:endParaRPr lang="en-GB"/>
          </a:p>
        </p:txBody>
      </p:sp>
      <p:sp>
        <p:nvSpPr>
          <p:cNvPr id="5" name="Content Placeholder 2">
            <a:extLst>
              <a:ext uri="{FF2B5EF4-FFF2-40B4-BE49-F238E27FC236}">
                <a16:creationId xmlns:a16="http://schemas.microsoft.com/office/drawing/2014/main" id="{BB96F6C7-AE1D-11C4-9ED8-52E1FFC23933}"/>
              </a:ext>
            </a:extLst>
          </p:cNvPr>
          <p:cNvSpPr txBox="1">
            <a:spLocks/>
          </p:cNvSpPr>
          <p:nvPr/>
        </p:nvSpPr>
        <p:spPr>
          <a:xfrm>
            <a:off x="838200" y="1562390"/>
            <a:ext cx="10515600" cy="1411156"/>
          </a:xfrm>
          <a:prstGeom prst="rect">
            <a:avLst/>
          </a:prstGeom>
          <a:solidFill>
            <a:schemeClr val="accent1">
              <a:lumMod val="20000"/>
              <a:lumOff val="80000"/>
            </a:schemeClr>
          </a:solidFill>
          <a:ln>
            <a:no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Use the cheat sheet to try out some different numpy functions on the provided data</a:t>
            </a:r>
          </a:p>
          <a:p>
            <a:r>
              <a:rPr lang="en-US">
                <a:cs typeface="Courier New" panose="02070309020205020404" pitchFamily="49" charset="0"/>
              </a:rPr>
              <a:t>Can also assign a subset of the data to a new variable to make it easier</a:t>
            </a:r>
            <a:endParaRPr lang="en-GB">
              <a:cs typeface="Courier New" panose="02070309020205020404" pitchFamily="49" charset="0"/>
            </a:endParaRPr>
          </a:p>
        </p:txBody>
      </p:sp>
      <p:sp>
        <p:nvSpPr>
          <p:cNvPr id="4" name="Content Placeholder 2">
            <a:extLst>
              <a:ext uri="{FF2B5EF4-FFF2-40B4-BE49-F238E27FC236}">
                <a16:creationId xmlns:a16="http://schemas.microsoft.com/office/drawing/2014/main" id="{5524E320-F3E5-0502-94B0-08BDF461285F}"/>
              </a:ext>
            </a:extLst>
          </p:cNvPr>
          <p:cNvSpPr txBox="1">
            <a:spLocks/>
          </p:cNvSpPr>
          <p:nvPr/>
        </p:nvSpPr>
        <p:spPr>
          <a:xfrm>
            <a:off x="838200" y="3098344"/>
            <a:ext cx="10515600" cy="925886"/>
          </a:xfrm>
          <a:prstGeom prst="rect">
            <a:avLst/>
          </a:prstGeom>
          <a:solidFill>
            <a:schemeClr val="bg2"/>
          </a:solidFill>
          <a:ln>
            <a:no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fathers = data[:,0] # can assign to a new variable</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fathers.shape</a:t>
            </a:r>
          </a:p>
          <a:p>
            <a:pPr marL="0" indent="0">
              <a:buFont typeface="Arial" panose="020B0604020202020204" pitchFamily="34" charset="0"/>
              <a:buNone/>
            </a:pPr>
            <a:endParaRPr lang="en-US">
              <a:latin typeface="Consolas" panose="020B0609020204030204" pitchFamily="49" charset="0"/>
              <a:cs typeface="Courier New" panose="02070309020205020404" pitchFamily="49" charset="0"/>
            </a:endParaRPr>
          </a:p>
          <a:p>
            <a:endParaRPr lang="en-GB">
              <a:latin typeface="Consolas" panose="020B0609020204030204" pitchFamily="49" charset="0"/>
              <a:cs typeface="Courier New" panose="02070309020205020404" pitchFamily="49" charset="0"/>
            </a:endParaRPr>
          </a:p>
        </p:txBody>
      </p:sp>
      <p:sp>
        <p:nvSpPr>
          <p:cNvPr id="8" name="Content Placeholder 2">
            <a:extLst>
              <a:ext uri="{FF2B5EF4-FFF2-40B4-BE49-F238E27FC236}">
                <a16:creationId xmlns:a16="http://schemas.microsoft.com/office/drawing/2014/main" id="{9A25BC05-6EB3-1492-71D1-B27913259979}"/>
              </a:ext>
            </a:extLst>
          </p:cNvPr>
          <p:cNvSpPr txBox="1">
            <a:spLocks/>
          </p:cNvSpPr>
          <p:nvPr/>
        </p:nvSpPr>
        <p:spPr>
          <a:xfrm>
            <a:off x="838200" y="4170810"/>
            <a:ext cx="10515600" cy="2509195"/>
          </a:xfrm>
          <a:prstGeom prst="rect">
            <a:avLst/>
          </a:prstGeom>
          <a:solidFill>
            <a:schemeClr val="accent1">
              <a:lumMod val="20000"/>
              <a:lumOff val="80000"/>
            </a:schemeClr>
          </a:solidFill>
          <a:ln>
            <a:no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Use the cheat sheet to try out some different numpy functions on the provided data or a subset of it, e.g….</a:t>
            </a:r>
          </a:p>
          <a:p>
            <a:pPr lvl="1"/>
            <a:r>
              <a:rPr lang="en-US">
                <a:cs typeface="Courier New" panose="02070309020205020404" pitchFamily="49" charset="0"/>
              </a:rPr>
              <a:t>len</a:t>
            </a:r>
          </a:p>
          <a:p>
            <a:pPr lvl="1"/>
            <a:r>
              <a:rPr lang="en-US">
                <a:cs typeface="Courier New" panose="02070309020205020404" pitchFamily="49" charset="0"/>
              </a:rPr>
              <a:t>shape</a:t>
            </a:r>
          </a:p>
          <a:p>
            <a:pPr lvl="1"/>
            <a:r>
              <a:rPr lang="en-US">
                <a:cs typeface="Courier New" panose="02070309020205020404" pitchFamily="49" charset="0"/>
              </a:rPr>
              <a:t>sort</a:t>
            </a:r>
          </a:p>
          <a:p>
            <a:pPr lvl="1"/>
            <a:r>
              <a:rPr lang="en-US">
                <a:cs typeface="Courier New" panose="02070309020205020404" pitchFamily="49" charset="0"/>
              </a:rPr>
              <a:t>numpy.mean</a:t>
            </a:r>
          </a:p>
          <a:p>
            <a:pPr lvl="1"/>
            <a:r>
              <a:rPr lang="en-US">
                <a:cs typeface="Courier New" panose="02070309020205020404" pitchFamily="49" charset="0"/>
              </a:rPr>
              <a:t>numpy.median</a:t>
            </a:r>
          </a:p>
          <a:p>
            <a:pPr lvl="1"/>
            <a:endParaRPr lang="en-US">
              <a:cs typeface="Courier New" panose="02070309020205020404" pitchFamily="49" charset="0"/>
            </a:endParaRPr>
          </a:p>
        </p:txBody>
      </p:sp>
    </p:spTree>
    <p:extLst>
      <p:ext uri="{BB962C8B-B14F-4D97-AF65-F5344CB8AC3E}">
        <p14:creationId xmlns:p14="http://schemas.microsoft.com/office/powerpoint/2010/main" val="1649790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 vector graphics&#10;&#10;Description automatically generated">
            <a:extLst>
              <a:ext uri="{FF2B5EF4-FFF2-40B4-BE49-F238E27FC236}">
                <a16:creationId xmlns:a16="http://schemas.microsoft.com/office/drawing/2014/main" id="{254B3068-6C5B-68BC-5387-DFAF01090AFA}"/>
              </a:ext>
            </a:extLst>
          </p:cNvPr>
          <p:cNvPicPr>
            <a:picLocks noChangeAspect="1"/>
          </p:cNvPicPr>
          <p:nvPr/>
        </p:nvPicPr>
        <p:blipFill rotWithShape="1">
          <a:blip r:embed="rId2">
            <a:alphaModFix amt="50000"/>
            <a:extLst>
              <a:ext uri="{28A0092B-C50C-407E-A947-70E740481C1C}">
                <a14:useLocalDpi xmlns:a14="http://schemas.microsoft.com/office/drawing/2010/main" val="0"/>
              </a:ext>
            </a:extLst>
          </a:blip>
          <a:srcRect t="43736" r="-1" b="-1"/>
          <a:stretch/>
        </p:blipFill>
        <p:spPr>
          <a:xfrm>
            <a:off x="20" y="10"/>
            <a:ext cx="12188930" cy="6857990"/>
          </a:xfrm>
          <a:prstGeom prst="rect">
            <a:avLst/>
          </a:prstGeom>
        </p:spPr>
      </p:pic>
      <p:sp>
        <p:nvSpPr>
          <p:cNvPr id="2" name="Title 1">
            <a:extLst>
              <a:ext uri="{FF2B5EF4-FFF2-40B4-BE49-F238E27FC236}">
                <a16:creationId xmlns:a16="http://schemas.microsoft.com/office/drawing/2014/main" id="{9B398876-94DF-6EF5-F89D-515E32593F46}"/>
              </a:ext>
            </a:extLst>
          </p:cNvPr>
          <p:cNvSpPr>
            <a:spLocks noGrp="1"/>
          </p:cNvSpPr>
          <p:nvPr>
            <p:ph type="title"/>
          </p:nvPr>
        </p:nvSpPr>
        <p:spPr>
          <a:xfrm>
            <a:off x="1524000" y="1122363"/>
            <a:ext cx="9144000" cy="3063240"/>
          </a:xfrm>
        </p:spPr>
        <p:txBody>
          <a:bodyPr vert="horz" lIns="91440" tIns="45720" rIns="91440" bIns="45720" rtlCol="0" anchor="b">
            <a:normAutofit/>
          </a:bodyPr>
          <a:lstStyle/>
          <a:p>
            <a:pPr algn="ctr"/>
            <a:r>
              <a:rPr lang="en-US" sz="6600">
                <a:solidFill>
                  <a:srgbClr val="FFFFFF"/>
                </a:solidFill>
                <a:latin typeface="Gameplay" panose="00000400000000000000" pitchFamily="2" charset="0"/>
              </a:rPr>
              <a:t>COFFEE TIME</a:t>
            </a:r>
          </a:p>
        </p:txBody>
      </p:sp>
    </p:spTree>
    <p:extLst>
      <p:ext uri="{BB962C8B-B14F-4D97-AF65-F5344CB8AC3E}">
        <p14:creationId xmlns:p14="http://schemas.microsoft.com/office/powerpoint/2010/main" val="3956939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Plotting some data</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1690688"/>
            <a:ext cx="10515600" cy="519752"/>
          </a:xfrm>
          <a:solidFill>
            <a:schemeClr val="bg2"/>
          </a:solidFill>
          <a:ln>
            <a:noFill/>
          </a:ln>
        </p:spPr>
        <p:txBody>
          <a:bodyPr/>
          <a:lstStyle/>
          <a:p>
            <a:pPr marL="0" indent="0">
              <a:buNone/>
            </a:pPr>
            <a:r>
              <a:rPr lang="en-US" sz="2400">
                <a:latin typeface="Consolas" panose="020B0609020204030204" pitchFamily="49" charset="0"/>
                <a:cs typeface="Courier New" panose="02070309020205020404" pitchFamily="49" charset="0"/>
              </a:rPr>
              <a:t>import matplotlib.pyplot as plt</a:t>
            </a:r>
          </a:p>
          <a:p>
            <a:endParaRPr lang="en-GB">
              <a:latin typeface="Consolas" panose="020B0609020204030204" pitchFamily="49" charset="0"/>
              <a:cs typeface="Courier New" panose="02070309020205020404" pitchFamily="49" charset="0"/>
            </a:endParaRPr>
          </a:p>
        </p:txBody>
      </p:sp>
      <p:sp>
        <p:nvSpPr>
          <p:cNvPr id="4" name="Content Placeholder 2">
            <a:extLst>
              <a:ext uri="{FF2B5EF4-FFF2-40B4-BE49-F238E27FC236}">
                <a16:creationId xmlns:a16="http://schemas.microsoft.com/office/drawing/2014/main" id="{D45A9760-33B5-9C10-D2FB-2854C0BEDD46}"/>
              </a:ext>
            </a:extLst>
          </p:cNvPr>
          <p:cNvSpPr txBox="1">
            <a:spLocks/>
          </p:cNvSpPr>
          <p:nvPr/>
        </p:nvSpPr>
        <p:spPr>
          <a:xfrm>
            <a:off x="838200" y="3872094"/>
            <a:ext cx="10515600" cy="1007033"/>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a:latin typeface="Consolas" panose="020B0609020204030204" pitchFamily="49" charset="0"/>
                <a:cs typeface="Courier New" panose="02070309020205020404" pitchFamily="49" charset="0"/>
              </a:rPr>
              <a:t>fig, ax = plt.subplots() # makes a new figure and axis</a:t>
            </a:r>
          </a:p>
          <a:p>
            <a:pPr marL="0" indent="0">
              <a:buFont typeface="Arial" panose="020B0604020202020204" pitchFamily="34" charset="0"/>
              <a:buNone/>
            </a:pPr>
            <a:r>
              <a:rPr lang="en-US" sz="2400">
                <a:latin typeface="Consolas" panose="020B0609020204030204" pitchFamily="49" charset="0"/>
                <a:cs typeface="Courier New" panose="02070309020205020404" pitchFamily="49" charset="0"/>
              </a:rPr>
              <a:t>ax.hist(fathers) # makes a histogram</a:t>
            </a:r>
          </a:p>
          <a:p>
            <a:endParaRPr lang="en-GB">
              <a:latin typeface="Consolas" panose="020B0609020204030204" pitchFamily="49" charset="0"/>
              <a:cs typeface="Courier New" panose="02070309020205020404" pitchFamily="49" charset="0"/>
            </a:endParaRPr>
          </a:p>
        </p:txBody>
      </p:sp>
      <p:sp>
        <p:nvSpPr>
          <p:cNvPr id="5" name="Content Placeholder 2">
            <a:extLst>
              <a:ext uri="{FF2B5EF4-FFF2-40B4-BE49-F238E27FC236}">
                <a16:creationId xmlns:a16="http://schemas.microsoft.com/office/drawing/2014/main" id="{BB96F6C7-AE1D-11C4-9ED8-52E1FFC23933}"/>
              </a:ext>
            </a:extLst>
          </p:cNvPr>
          <p:cNvSpPr txBox="1">
            <a:spLocks/>
          </p:cNvSpPr>
          <p:nvPr/>
        </p:nvSpPr>
        <p:spPr>
          <a:xfrm>
            <a:off x="838200" y="2418866"/>
            <a:ext cx="10515600" cy="875766"/>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i="1">
                <a:cs typeface="Courier New" panose="02070309020205020404" pitchFamily="49" charset="0"/>
              </a:rPr>
              <a:t>Note: </a:t>
            </a:r>
            <a:r>
              <a:rPr lang="en-US" sz="2400">
                <a:cs typeface="Courier New" panose="02070309020205020404" pitchFamily="49" charset="0"/>
              </a:rPr>
              <a:t>This is an example of using an alias when importing a package or module. It saves you from writing matplotlib.pyplot… everything time you want to use it</a:t>
            </a:r>
            <a:endParaRPr lang="en-GB" sz="2400" i="1">
              <a:cs typeface="Courier New" panose="02070309020205020404" pitchFamily="49" charset="0"/>
            </a:endParaRPr>
          </a:p>
        </p:txBody>
      </p:sp>
      <p:sp>
        <p:nvSpPr>
          <p:cNvPr id="6" name="Content Placeholder 2">
            <a:extLst>
              <a:ext uri="{FF2B5EF4-FFF2-40B4-BE49-F238E27FC236}">
                <a16:creationId xmlns:a16="http://schemas.microsoft.com/office/drawing/2014/main" id="{239E7235-7DF4-5A73-8D34-74FDE1EC36C8}"/>
              </a:ext>
            </a:extLst>
          </p:cNvPr>
          <p:cNvSpPr txBox="1">
            <a:spLocks/>
          </p:cNvSpPr>
          <p:nvPr/>
        </p:nvSpPr>
        <p:spPr>
          <a:xfrm>
            <a:off x="838200" y="5137585"/>
            <a:ext cx="10515600" cy="1194770"/>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cs typeface="Courier New" panose="02070309020205020404" pitchFamily="49" charset="0"/>
              </a:rPr>
              <a:t>Try plotting different data, e.g.</a:t>
            </a:r>
          </a:p>
          <a:p>
            <a:pPr lvl="1"/>
            <a:r>
              <a:rPr lang="en-US" sz="2000" i="1">
                <a:cs typeface="Courier New" panose="02070309020205020404" pitchFamily="49" charset="0"/>
              </a:rPr>
              <a:t>heights of the sons</a:t>
            </a:r>
          </a:p>
          <a:p>
            <a:pPr lvl="1"/>
            <a:r>
              <a:rPr lang="en-US" sz="2000" i="1">
                <a:cs typeface="Courier New" panose="02070309020205020404" pitchFamily="49" charset="0"/>
              </a:rPr>
              <a:t>only the heights over a certain threshold</a:t>
            </a:r>
            <a:endParaRPr lang="en-GB" sz="2000" i="1">
              <a:cs typeface="Courier New" panose="02070309020205020404" pitchFamily="49" charset="0"/>
            </a:endParaRPr>
          </a:p>
        </p:txBody>
      </p:sp>
    </p:spTree>
    <p:extLst>
      <p:ext uri="{BB962C8B-B14F-4D97-AF65-F5344CB8AC3E}">
        <p14:creationId xmlns:p14="http://schemas.microsoft.com/office/powerpoint/2010/main" val="246568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Plotting some data</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1690688"/>
            <a:ext cx="10515600" cy="535981"/>
          </a:xfrm>
          <a:solidFill>
            <a:schemeClr val="bg2"/>
          </a:solidFill>
          <a:ln>
            <a:noFill/>
          </a:ln>
        </p:spPr>
        <p:txBody>
          <a:bodyPr>
            <a:normAutofit/>
          </a:bodyPr>
          <a:lstStyle/>
          <a:p>
            <a:pPr marL="0" indent="0">
              <a:buFont typeface="Arial" panose="020B0604020202020204" pitchFamily="34" charset="0"/>
              <a:buNone/>
            </a:pPr>
            <a:r>
              <a:rPr lang="en-US" sz="2400">
                <a:latin typeface="Consolas" panose="020B0609020204030204" pitchFamily="49" charset="0"/>
                <a:cs typeface="Courier New" panose="02070309020205020404" pitchFamily="49" charset="0"/>
              </a:rPr>
              <a:t>fig, [ax1, ax2] = plt.subplots(ncols=2) # two subplots</a:t>
            </a:r>
          </a:p>
          <a:p>
            <a:pPr marL="0" indent="0">
              <a:buNone/>
            </a:pPr>
            <a:endParaRPr lang="en-US" sz="2400">
              <a:latin typeface="Consolas" panose="020B0609020204030204" pitchFamily="49" charset="0"/>
              <a:cs typeface="Courier New" panose="02070309020205020404" pitchFamily="49" charset="0"/>
            </a:endParaRPr>
          </a:p>
          <a:p>
            <a:endParaRPr lang="en-GB">
              <a:latin typeface="Consolas" panose="020B0609020204030204" pitchFamily="49" charset="0"/>
              <a:cs typeface="Courier New" panose="02070309020205020404" pitchFamily="49" charset="0"/>
            </a:endParaRPr>
          </a:p>
        </p:txBody>
      </p:sp>
      <p:sp>
        <p:nvSpPr>
          <p:cNvPr id="6" name="Content Placeholder 2">
            <a:extLst>
              <a:ext uri="{FF2B5EF4-FFF2-40B4-BE49-F238E27FC236}">
                <a16:creationId xmlns:a16="http://schemas.microsoft.com/office/drawing/2014/main" id="{239E7235-7DF4-5A73-8D34-74FDE1EC36C8}"/>
              </a:ext>
            </a:extLst>
          </p:cNvPr>
          <p:cNvSpPr txBox="1">
            <a:spLocks/>
          </p:cNvSpPr>
          <p:nvPr/>
        </p:nvSpPr>
        <p:spPr>
          <a:xfrm>
            <a:off x="838200" y="3958834"/>
            <a:ext cx="10515600" cy="2072018"/>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cs typeface="Courier New" panose="02070309020205020404" pitchFamily="49" charset="0"/>
              </a:rPr>
              <a:t>Try </a:t>
            </a:r>
            <a:r>
              <a:rPr lang="en-US" sz="2400">
                <a:latin typeface="Consolas" panose="020B0609020204030204" pitchFamily="49" charset="0"/>
                <a:cs typeface="Courier New" panose="02070309020205020404" pitchFamily="49" charset="0"/>
              </a:rPr>
              <a:t>ax1.hist? </a:t>
            </a:r>
            <a:r>
              <a:rPr lang="en-US" sz="2400">
                <a:cs typeface="Courier New" panose="02070309020205020404" pitchFamily="49" charset="0"/>
              </a:rPr>
              <a:t>to see the available options. Also just google “matplotlib hist”</a:t>
            </a:r>
          </a:p>
          <a:p>
            <a:r>
              <a:rPr lang="en-US" sz="2400">
                <a:cs typeface="Courier New" panose="02070309020205020404" pitchFamily="49" charset="0"/>
              </a:rPr>
              <a:t>Try adding the </a:t>
            </a:r>
            <a:r>
              <a:rPr lang="en-US" sz="2400">
                <a:latin typeface="Consolas" panose="020B0609020204030204" pitchFamily="49" charset="0"/>
                <a:cs typeface="Courier New" panose="02070309020205020404" pitchFamily="49" charset="0"/>
              </a:rPr>
              <a:t>bins</a:t>
            </a:r>
            <a:r>
              <a:rPr lang="en-US" sz="2400">
                <a:cs typeface="Courier New" panose="02070309020205020404" pitchFamily="49" charset="0"/>
              </a:rPr>
              <a:t> argument to </a:t>
            </a:r>
            <a:r>
              <a:rPr lang="en-US" sz="2400">
                <a:latin typeface="Consolas" panose="020B0609020204030204" pitchFamily="49" charset="0"/>
                <a:cs typeface="Courier New" panose="02070309020205020404" pitchFamily="49" charset="0"/>
              </a:rPr>
              <a:t>ax1.hist</a:t>
            </a:r>
          </a:p>
          <a:p>
            <a:r>
              <a:rPr lang="en-US" sz="2400">
                <a:cs typeface="Courier New" panose="02070309020205020404" pitchFamily="49" charset="0"/>
              </a:rPr>
              <a:t>Try making a scatter plot with fathers and sons heights (hint: </a:t>
            </a:r>
            <a:r>
              <a:rPr lang="en-US" sz="2400">
                <a:latin typeface="Consolas" panose="020B0609020204030204" pitchFamily="49" charset="0"/>
                <a:cs typeface="Courier New" panose="02070309020205020404" pitchFamily="49" charset="0"/>
              </a:rPr>
              <a:t>ax.scatter(…  </a:t>
            </a:r>
            <a:r>
              <a:rPr lang="en-US" sz="2400">
                <a:cs typeface="Courier New" panose="02070309020205020404" pitchFamily="49" charset="0"/>
              </a:rPr>
              <a:t>)</a:t>
            </a:r>
          </a:p>
          <a:p>
            <a:r>
              <a:rPr lang="en-US" sz="2400">
                <a:cs typeface="Courier New" panose="02070309020205020404" pitchFamily="49" charset="0"/>
              </a:rPr>
              <a:t>Try making a figure with different layout, e.g. two rows instead of two columns</a:t>
            </a:r>
            <a:endParaRPr lang="en-GB" sz="2000">
              <a:cs typeface="Courier New" panose="02070309020205020404" pitchFamily="49" charset="0"/>
            </a:endParaRPr>
          </a:p>
        </p:txBody>
      </p:sp>
      <p:sp>
        <p:nvSpPr>
          <p:cNvPr id="7" name="Content Placeholder 2">
            <a:extLst>
              <a:ext uri="{FF2B5EF4-FFF2-40B4-BE49-F238E27FC236}">
                <a16:creationId xmlns:a16="http://schemas.microsoft.com/office/drawing/2014/main" id="{B3DDD906-DB0A-D3B3-F135-DEDF11553F71}"/>
              </a:ext>
            </a:extLst>
          </p:cNvPr>
          <p:cNvSpPr txBox="1">
            <a:spLocks/>
          </p:cNvSpPr>
          <p:nvPr/>
        </p:nvSpPr>
        <p:spPr>
          <a:xfrm>
            <a:off x="838200" y="2529299"/>
            <a:ext cx="10515600" cy="1152827"/>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a:latin typeface="Consolas" panose="020B0609020204030204" pitchFamily="49" charset="0"/>
                <a:cs typeface="Courier New" panose="02070309020205020404" pitchFamily="49" charset="0"/>
              </a:rPr>
              <a:t>ax1.hist(fathers, color=“green”)</a:t>
            </a:r>
          </a:p>
          <a:p>
            <a:pPr marL="0" indent="0">
              <a:buFont typeface="Arial" panose="020B0604020202020204" pitchFamily="34" charset="0"/>
              <a:buNone/>
            </a:pPr>
            <a:r>
              <a:rPr lang="en-US" sz="2400">
                <a:latin typeface="Consolas" panose="020B0609020204030204" pitchFamily="49" charset="0"/>
                <a:cs typeface="Courier New" panose="02070309020205020404" pitchFamily="49" charset="0"/>
              </a:rPr>
              <a:t>ax2.hist(sons, color=“blue”)</a:t>
            </a:r>
          </a:p>
          <a:p>
            <a:pPr marL="0" indent="0">
              <a:buFont typeface="Arial" panose="020B0604020202020204" pitchFamily="34" charset="0"/>
              <a:buNone/>
            </a:pPr>
            <a:endParaRPr lang="en-US" sz="2400">
              <a:latin typeface="Consolas" panose="020B0609020204030204" pitchFamily="49" charset="0"/>
              <a:cs typeface="Courier New" panose="02070309020205020404" pitchFamily="49" charset="0"/>
            </a:endParaRPr>
          </a:p>
          <a:p>
            <a:endParaRPr lang="en-GB">
              <a:latin typeface="Consolas" panose="020B0609020204030204" pitchFamily="49" charset="0"/>
              <a:cs typeface="Courier New" panose="02070309020205020404" pitchFamily="49" charset="0"/>
            </a:endParaRPr>
          </a:p>
        </p:txBody>
      </p:sp>
    </p:spTree>
    <p:extLst>
      <p:ext uri="{BB962C8B-B14F-4D97-AF65-F5344CB8AC3E}">
        <p14:creationId xmlns:p14="http://schemas.microsoft.com/office/powerpoint/2010/main" val="1305438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 vector graphics&#10;&#10;Description automatically generated">
            <a:extLst>
              <a:ext uri="{FF2B5EF4-FFF2-40B4-BE49-F238E27FC236}">
                <a16:creationId xmlns:a16="http://schemas.microsoft.com/office/drawing/2014/main" id="{254B3068-6C5B-68BC-5387-DFAF01090AFA}"/>
              </a:ext>
            </a:extLst>
          </p:cNvPr>
          <p:cNvPicPr>
            <a:picLocks noChangeAspect="1"/>
          </p:cNvPicPr>
          <p:nvPr/>
        </p:nvPicPr>
        <p:blipFill rotWithShape="1">
          <a:blip r:embed="rId2">
            <a:alphaModFix amt="50000"/>
            <a:extLst>
              <a:ext uri="{28A0092B-C50C-407E-A947-70E740481C1C}">
                <a14:useLocalDpi xmlns:a14="http://schemas.microsoft.com/office/drawing/2010/main" val="0"/>
              </a:ext>
            </a:extLst>
          </a:blip>
          <a:srcRect t="43736" r="-1" b="-1"/>
          <a:stretch/>
        </p:blipFill>
        <p:spPr>
          <a:xfrm>
            <a:off x="20" y="10"/>
            <a:ext cx="12188930" cy="6857990"/>
          </a:xfrm>
          <a:prstGeom prst="rect">
            <a:avLst/>
          </a:prstGeom>
        </p:spPr>
      </p:pic>
      <p:sp>
        <p:nvSpPr>
          <p:cNvPr id="2" name="Title 1">
            <a:extLst>
              <a:ext uri="{FF2B5EF4-FFF2-40B4-BE49-F238E27FC236}">
                <a16:creationId xmlns:a16="http://schemas.microsoft.com/office/drawing/2014/main" id="{9B398876-94DF-6EF5-F89D-515E32593F46}"/>
              </a:ext>
            </a:extLst>
          </p:cNvPr>
          <p:cNvSpPr>
            <a:spLocks noGrp="1"/>
          </p:cNvSpPr>
          <p:nvPr>
            <p:ph type="title"/>
          </p:nvPr>
        </p:nvSpPr>
        <p:spPr>
          <a:xfrm>
            <a:off x="1524000" y="1122363"/>
            <a:ext cx="9144000" cy="3063240"/>
          </a:xfrm>
        </p:spPr>
        <p:txBody>
          <a:bodyPr vert="horz" lIns="91440" tIns="45720" rIns="91440" bIns="45720" rtlCol="0" anchor="b">
            <a:normAutofit/>
          </a:bodyPr>
          <a:lstStyle/>
          <a:p>
            <a:pPr algn="ctr"/>
            <a:r>
              <a:rPr lang="en-US" sz="6600">
                <a:solidFill>
                  <a:srgbClr val="FFFFFF"/>
                </a:solidFill>
                <a:latin typeface="Gameplay" panose="00000400000000000000" pitchFamily="2" charset="0"/>
              </a:rPr>
              <a:t>COFFEE TIME</a:t>
            </a:r>
          </a:p>
        </p:txBody>
      </p:sp>
    </p:spTree>
    <p:extLst>
      <p:ext uri="{BB962C8B-B14F-4D97-AF65-F5344CB8AC3E}">
        <p14:creationId xmlns:p14="http://schemas.microsoft.com/office/powerpoint/2010/main" val="3518637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Variables: Strings</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1825625"/>
            <a:ext cx="10515600" cy="519752"/>
          </a:xfrm>
          <a:solidFill>
            <a:schemeClr val="bg2"/>
          </a:solidFill>
          <a:ln>
            <a:noFill/>
          </a:ln>
        </p:spPr>
        <p:txBody>
          <a:bodyPr/>
          <a:lstStyle/>
          <a:p>
            <a:pPr marL="0" indent="0">
              <a:buNone/>
            </a:pPr>
            <a:r>
              <a:rPr lang="en-US">
                <a:latin typeface="Consolas" panose="020B0609020204030204" pitchFamily="49" charset="0"/>
                <a:cs typeface="Courier New" panose="02070309020205020404" pitchFamily="49" charset="0"/>
              </a:rPr>
              <a:t>my_name = jaime</a:t>
            </a:r>
          </a:p>
          <a:p>
            <a:endParaRPr lang="en-GB">
              <a:latin typeface="Consolas" panose="020B0609020204030204" pitchFamily="49" charset="0"/>
              <a:cs typeface="Courier New" panose="02070309020205020404" pitchFamily="49" charset="0"/>
            </a:endParaRPr>
          </a:p>
        </p:txBody>
      </p:sp>
      <p:sp>
        <p:nvSpPr>
          <p:cNvPr id="6" name="Content Placeholder 2">
            <a:extLst>
              <a:ext uri="{FF2B5EF4-FFF2-40B4-BE49-F238E27FC236}">
                <a16:creationId xmlns:a16="http://schemas.microsoft.com/office/drawing/2014/main" id="{B5A7894A-CC81-F8CE-AF00-1873F1164504}"/>
              </a:ext>
            </a:extLst>
          </p:cNvPr>
          <p:cNvSpPr txBox="1">
            <a:spLocks/>
          </p:cNvSpPr>
          <p:nvPr/>
        </p:nvSpPr>
        <p:spPr>
          <a:xfrm>
            <a:off x="838200" y="2583276"/>
            <a:ext cx="10515600" cy="1127764"/>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Strings need quotation marks</a:t>
            </a:r>
          </a:p>
          <a:p>
            <a:r>
              <a:rPr lang="en-US">
                <a:cs typeface="Courier New" panose="02070309020205020404" pitchFamily="49" charset="0"/>
              </a:rPr>
              <a:t>Both single or double work but best to be consistent </a:t>
            </a:r>
            <a:endParaRPr lang="en-GB">
              <a:cs typeface="Courier New" panose="02070309020205020404" pitchFamily="49" charset="0"/>
            </a:endParaRPr>
          </a:p>
        </p:txBody>
      </p:sp>
      <p:sp>
        <p:nvSpPr>
          <p:cNvPr id="7" name="Content Placeholder 2">
            <a:extLst>
              <a:ext uri="{FF2B5EF4-FFF2-40B4-BE49-F238E27FC236}">
                <a16:creationId xmlns:a16="http://schemas.microsoft.com/office/drawing/2014/main" id="{8EA62A8B-25B8-5E36-BA2D-54551FDCB2DE}"/>
              </a:ext>
            </a:extLst>
          </p:cNvPr>
          <p:cNvSpPr txBox="1">
            <a:spLocks/>
          </p:cNvSpPr>
          <p:nvPr/>
        </p:nvSpPr>
        <p:spPr>
          <a:xfrm>
            <a:off x="838200" y="3954877"/>
            <a:ext cx="10515600" cy="519752"/>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my_name = “jaime”</a:t>
            </a:r>
          </a:p>
          <a:p>
            <a:endParaRPr lang="en-GB">
              <a:latin typeface="Consolas" panose="020B0609020204030204" pitchFamily="49" charset="0"/>
              <a:cs typeface="Courier New" panose="02070309020205020404" pitchFamily="49" charset="0"/>
            </a:endParaRPr>
          </a:p>
        </p:txBody>
      </p:sp>
    </p:spTree>
    <p:extLst>
      <p:ext uri="{BB962C8B-B14F-4D97-AF65-F5344CB8AC3E}">
        <p14:creationId xmlns:p14="http://schemas.microsoft.com/office/powerpoint/2010/main" val="1416978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Variables: Strings</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1825625"/>
            <a:ext cx="10515600" cy="519752"/>
          </a:xfrm>
          <a:solidFill>
            <a:schemeClr val="bg2"/>
          </a:solidFill>
          <a:ln>
            <a:noFill/>
          </a:ln>
        </p:spPr>
        <p:txBody>
          <a:bodyPr/>
          <a:lstStyle/>
          <a:p>
            <a:pPr marL="0" indent="0">
              <a:buNone/>
            </a:pPr>
            <a:r>
              <a:rPr lang="en-US">
                <a:latin typeface="Consolas" panose="020B0609020204030204" pitchFamily="49" charset="0"/>
                <a:cs typeface="Courier New" panose="02070309020205020404" pitchFamily="49" charset="0"/>
              </a:rPr>
              <a:t>1st_name = “jaime”</a:t>
            </a:r>
          </a:p>
          <a:p>
            <a:endParaRPr lang="en-GB">
              <a:latin typeface="Consolas" panose="020B0609020204030204" pitchFamily="49" charset="0"/>
              <a:cs typeface="Courier New" panose="02070309020205020404" pitchFamily="49" charset="0"/>
            </a:endParaRPr>
          </a:p>
        </p:txBody>
      </p:sp>
      <p:sp>
        <p:nvSpPr>
          <p:cNvPr id="8" name="Content Placeholder 2">
            <a:extLst>
              <a:ext uri="{FF2B5EF4-FFF2-40B4-BE49-F238E27FC236}">
                <a16:creationId xmlns:a16="http://schemas.microsoft.com/office/drawing/2014/main" id="{8DA5A9F1-CCC1-8347-31A6-F3559482CE37}"/>
              </a:ext>
            </a:extLst>
          </p:cNvPr>
          <p:cNvSpPr txBox="1">
            <a:spLocks/>
          </p:cNvSpPr>
          <p:nvPr/>
        </p:nvSpPr>
        <p:spPr>
          <a:xfrm>
            <a:off x="838200" y="2583276"/>
            <a:ext cx="10515600" cy="575560"/>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Variables cannot start with a number (or another illegal character)</a:t>
            </a:r>
            <a:endParaRPr lang="en-GB">
              <a:cs typeface="Courier New" panose="02070309020205020404" pitchFamily="49" charset="0"/>
            </a:endParaRPr>
          </a:p>
        </p:txBody>
      </p:sp>
      <p:sp>
        <p:nvSpPr>
          <p:cNvPr id="9" name="Content Placeholder 2">
            <a:extLst>
              <a:ext uri="{FF2B5EF4-FFF2-40B4-BE49-F238E27FC236}">
                <a16:creationId xmlns:a16="http://schemas.microsoft.com/office/drawing/2014/main" id="{6050859E-866C-75B4-8140-2171DC4DEE3E}"/>
              </a:ext>
            </a:extLst>
          </p:cNvPr>
          <p:cNvSpPr txBox="1">
            <a:spLocks/>
          </p:cNvSpPr>
          <p:nvPr/>
        </p:nvSpPr>
        <p:spPr>
          <a:xfrm>
            <a:off x="838200" y="3396735"/>
            <a:ext cx="10515600" cy="519752"/>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first_name = “jaime”</a:t>
            </a:r>
          </a:p>
          <a:p>
            <a:endParaRPr lang="en-GB">
              <a:latin typeface="Consolas" panose="020B0609020204030204" pitchFamily="49" charset="0"/>
              <a:cs typeface="Courier New" panose="02070309020205020404" pitchFamily="49" charset="0"/>
            </a:endParaRPr>
          </a:p>
        </p:txBody>
      </p:sp>
    </p:spTree>
    <p:extLst>
      <p:ext uri="{BB962C8B-B14F-4D97-AF65-F5344CB8AC3E}">
        <p14:creationId xmlns:p14="http://schemas.microsoft.com/office/powerpoint/2010/main" val="2953308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Variables: Strings</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1825625"/>
            <a:ext cx="10515600" cy="519752"/>
          </a:xfrm>
          <a:solidFill>
            <a:schemeClr val="bg2"/>
          </a:solidFill>
          <a:ln>
            <a:noFill/>
          </a:ln>
        </p:spPr>
        <p:txBody>
          <a:bodyPr/>
          <a:lstStyle/>
          <a:p>
            <a:pPr marL="0" indent="0">
              <a:buNone/>
            </a:pPr>
            <a:r>
              <a:rPr lang="en-US">
                <a:latin typeface="Consolas" panose="020B0609020204030204" pitchFamily="49" charset="0"/>
                <a:cs typeface="Courier New" panose="02070309020205020404" pitchFamily="49" charset="0"/>
              </a:rPr>
              <a:t>firstName = “jaime”</a:t>
            </a:r>
          </a:p>
          <a:p>
            <a:endParaRPr lang="en-GB">
              <a:latin typeface="Consolas" panose="020B0609020204030204" pitchFamily="49" charset="0"/>
              <a:cs typeface="Courier New" panose="02070309020205020404" pitchFamily="49" charset="0"/>
            </a:endParaRPr>
          </a:p>
        </p:txBody>
      </p:sp>
      <p:sp>
        <p:nvSpPr>
          <p:cNvPr id="4" name="Content Placeholder 2">
            <a:extLst>
              <a:ext uri="{FF2B5EF4-FFF2-40B4-BE49-F238E27FC236}">
                <a16:creationId xmlns:a16="http://schemas.microsoft.com/office/drawing/2014/main" id="{F7704D14-CA6D-8B7D-F843-B9CB4A596FE1}"/>
              </a:ext>
            </a:extLst>
          </p:cNvPr>
          <p:cNvSpPr txBox="1">
            <a:spLocks/>
          </p:cNvSpPr>
          <p:nvPr/>
        </p:nvSpPr>
        <p:spPr>
          <a:xfrm>
            <a:off x="838200" y="2791093"/>
            <a:ext cx="10515600" cy="2032192"/>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In Python the convention is to use </a:t>
            </a:r>
            <a:r>
              <a:rPr lang="en-US" b="1">
                <a:cs typeface="Courier New" panose="02070309020205020404" pitchFamily="49" charset="0"/>
              </a:rPr>
              <a:t>snake_case</a:t>
            </a:r>
          </a:p>
          <a:p>
            <a:r>
              <a:rPr lang="en-US">
                <a:cs typeface="Courier New" panose="02070309020205020404" pitchFamily="49" charset="0"/>
              </a:rPr>
              <a:t>Using </a:t>
            </a:r>
            <a:r>
              <a:rPr lang="en-US" b="1">
                <a:cs typeface="Courier New" panose="02070309020205020404" pitchFamily="49" charset="0"/>
              </a:rPr>
              <a:t>camelCase</a:t>
            </a:r>
            <a:r>
              <a:rPr lang="en-US">
                <a:cs typeface="Courier New" panose="02070309020205020404" pitchFamily="49" charset="0"/>
              </a:rPr>
              <a:t> as shown here will not break your code but it is better to follow the conventions when possible</a:t>
            </a:r>
          </a:p>
          <a:p>
            <a:r>
              <a:rPr lang="en-US">
                <a:cs typeface="Courier New" panose="02070309020205020404" pitchFamily="49" charset="0"/>
              </a:rPr>
              <a:t>Many other languages use </a:t>
            </a:r>
            <a:r>
              <a:rPr lang="en-US" b="1">
                <a:cs typeface="Courier New" panose="02070309020205020404" pitchFamily="49" charset="0"/>
              </a:rPr>
              <a:t>camelCase</a:t>
            </a:r>
            <a:r>
              <a:rPr lang="en-US">
                <a:cs typeface="Courier New" panose="02070309020205020404" pitchFamily="49" charset="0"/>
              </a:rPr>
              <a:t>, e.g. Java</a:t>
            </a:r>
          </a:p>
        </p:txBody>
      </p:sp>
      <p:sp>
        <p:nvSpPr>
          <p:cNvPr id="5" name="Content Placeholder 2">
            <a:extLst>
              <a:ext uri="{FF2B5EF4-FFF2-40B4-BE49-F238E27FC236}">
                <a16:creationId xmlns:a16="http://schemas.microsoft.com/office/drawing/2014/main" id="{3F411F9E-495A-56B0-7602-2A232348444C}"/>
              </a:ext>
            </a:extLst>
          </p:cNvPr>
          <p:cNvSpPr txBox="1">
            <a:spLocks/>
          </p:cNvSpPr>
          <p:nvPr/>
        </p:nvSpPr>
        <p:spPr>
          <a:xfrm>
            <a:off x="847507" y="5200468"/>
            <a:ext cx="10515600" cy="519752"/>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first_name = “jaime”</a:t>
            </a:r>
          </a:p>
          <a:p>
            <a:endParaRPr lang="en-GB">
              <a:latin typeface="Consolas" panose="020B06090202040302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726F147E-2E41-BA18-31E3-A354A88F9488}"/>
              </a:ext>
            </a:extLst>
          </p:cNvPr>
          <p:cNvSpPr txBox="1"/>
          <p:nvPr/>
        </p:nvSpPr>
        <p:spPr>
          <a:xfrm>
            <a:off x="5331091" y="6308209"/>
            <a:ext cx="6681751" cy="369332"/>
          </a:xfrm>
          <a:prstGeom prst="rect">
            <a:avLst/>
          </a:prstGeom>
          <a:noFill/>
        </p:spPr>
        <p:txBody>
          <a:bodyPr wrap="square">
            <a:spAutoFit/>
          </a:bodyPr>
          <a:lstStyle/>
          <a:p>
            <a:r>
              <a:rPr lang="en-US">
                <a:cs typeface="Courier New" panose="02070309020205020404" pitchFamily="49" charset="0"/>
              </a:rPr>
              <a:t>https://khalilstemmler.com/blogs/camel-case-snake-case-pascal-case</a:t>
            </a:r>
            <a:endParaRPr lang="en-GB">
              <a:cs typeface="Courier New" panose="02070309020205020404" pitchFamily="49" charset="0"/>
            </a:endParaRPr>
          </a:p>
        </p:txBody>
      </p:sp>
    </p:spTree>
    <p:extLst>
      <p:ext uri="{BB962C8B-B14F-4D97-AF65-F5344CB8AC3E}">
        <p14:creationId xmlns:p14="http://schemas.microsoft.com/office/powerpoint/2010/main" val="204821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Variables: Strings</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1825625"/>
            <a:ext cx="10515600" cy="519752"/>
          </a:xfrm>
          <a:solidFill>
            <a:schemeClr val="bg2"/>
          </a:solidFill>
          <a:ln>
            <a:noFill/>
          </a:ln>
        </p:spPr>
        <p:txBody>
          <a:bodyPr/>
          <a:lstStyle/>
          <a:p>
            <a:pPr marL="0" indent="0">
              <a:buNone/>
            </a:pPr>
            <a:r>
              <a:rPr lang="en-US">
                <a:latin typeface="Consolas" panose="020B0609020204030204" pitchFamily="49" charset="0"/>
                <a:cs typeface="Courier New" panose="02070309020205020404" pitchFamily="49" charset="0"/>
              </a:rPr>
              <a:t>n1 = “jaime”</a:t>
            </a:r>
          </a:p>
          <a:p>
            <a:endParaRPr lang="en-GB">
              <a:latin typeface="Consolas" panose="020B0609020204030204" pitchFamily="49" charset="0"/>
              <a:cs typeface="Courier New" panose="02070309020205020404" pitchFamily="49" charset="0"/>
            </a:endParaRPr>
          </a:p>
        </p:txBody>
      </p:sp>
      <p:sp>
        <p:nvSpPr>
          <p:cNvPr id="4" name="Content Placeholder 2">
            <a:extLst>
              <a:ext uri="{FF2B5EF4-FFF2-40B4-BE49-F238E27FC236}">
                <a16:creationId xmlns:a16="http://schemas.microsoft.com/office/drawing/2014/main" id="{A0563EB9-E767-69F3-3923-B614169AE364}"/>
              </a:ext>
            </a:extLst>
          </p:cNvPr>
          <p:cNvSpPr txBox="1">
            <a:spLocks/>
          </p:cNvSpPr>
          <p:nvPr/>
        </p:nvSpPr>
        <p:spPr>
          <a:xfrm>
            <a:off x="838200" y="2791093"/>
            <a:ext cx="10515600" cy="1632465"/>
          </a:xfrm>
          <a:prstGeom prst="rect">
            <a:avLst/>
          </a:prstGeom>
          <a:solidFill>
            <a:schemeClr val="accent1">
              <a:lumMod val="20000"/>
              <a:lumOff val="80000"/>
            </a:schemeClr>
          </a:solidFill>
          <a:ln>
            <a:no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Python is intended to be readable so it is recommended to use descriptive variable names unless the variable has a very limited scope</a:t>
            </a:r>
          </a:p>
          <a:p>
            <a:r>
              <a:rPr lang="en-US">
                <a:cs typeface="Courier New" panose="02070309020205020404" pitchFamily="49" charset="0"/>
              </a:rPr>
              <a:t>Sticking to Python conventions is sometimes called making your code “pythonic”</a:t>
            </a:r>
          </a:p>
          <a:p>
            <a:endParaRPr lang="en-GB">
              <a:cs typeface="Courier New" panose="02070309020205020404" pitchFamily="49" charset="0"/>
            </a:endParaRPr>
          </a:p>
        </p:txBody>
      </p:sp>
      <p:sp>
        <p:nvSpPr>
          <p:cNvPr id="5" name="Content Placeholder 2">
            <a:extLst>
              <a:ext uri="{FF2B5EF4-FFF2-40B4-BE49-F238E27FC236}">
                <a16:creationId xmlns:a16="http://schemas.microsoft.com/office/drawing/2014/main" id="{B3C44CC3-3401-451C-C62B-28EA4B769355}"/>
              </a:ext>
            </a:extLst>
          </p:cNvPr>
          <p:cNvSpPr txBox="1">
            <a:spLocks/>
          </p:cNvSpPr>
          <p:nvPr/>
        </p:nvSpPr>
        <p:spPr>
          <a:xfrm>
            <a:off x="838200" y="4952403"/>
            <a:ext cx="10515600" cy="519752"/>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first_name = “jaime”</a:t>
            </a:r>
          </a:p>
          <a:p>
            <a:endParaRPr lang="en-GB">
              <a:latin typeface="Consolas" panose="020B0609020204030204" pitchFamily="49" charset="0"/>
              <a:cs typeface="Courier New" panose="02070309020205020404" pitchFamily="49" charset="0"/>
            </a:endParaRPr>
          </a:p>
        </p:txBody>
      </p:sp>
    </p:spTree>
    <p:extLst>
      <p:ext uri="{BB962C8B-B14F-4D97-AF65-F5344CB8AC3E}">
        <p14:creationId xmlns:p14="http://schemas.microsoft.com/office/powerpoint/2010/main" val="2438607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Variables: Strings</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1825625"/>
            <a:ext cx="10515600" cy="1546968"/>
          </a:xfrm>
          <a:solidFill>
            <a:schemeClr val="bg2"/>
          </a:solidFill>
          <a:ln>
            <a:noFill/>
          </a:ln>
        </p:spPr>
        <p:txBody>
          <a:bodyPr>
            <a:normAutofit/>
          </a:bodyPr>
          <a:lstStyle/>
          <a:p>
            <a:pPr marL="0" indent="0">
              <a:buNone/>
            </a:pPr>
            <a:r>
              <a:rPr lang="en-US">
                <a:latin typeface="Consolas" panose="020B0609020204030204" pitchFamily="49" charset="0"/>
                <a:cs typeface="Courier New" panose="02070309020205020404" pitchFamily="49" charset="0"/>
              </a:rPr>
              <a:t>first_name = “jaime”</a:t>
            </a:r>
          </a:p>
          <a:p>
            <a:pPr marL="0" indent="0">
              <a:buNone/>
            </a:pPr>
            <a:r>
              <a:rPr lang="en-US">
                <a:latin typeface="Consolas" panose="020B0609020204030204" pitchFamily="49" charset="0"/>
                <a:cs typeface="Courier New" panose="02070309020205020404" pitchFamily="49" charset="0"/>
              </a:rPr>
              <a:t>second_name = “mccutcheon”</a:t>
            </a:r>
          </a:p>
          <a:p>
            <a:pPr marL="0" indent="0">
              <a:buNone/>
            </a:pPr>
            <a:r>
              <a:rPr lang="en-US">
                <a:latin typeface="Consolas" panose="020B0609020204030204" pitchFamily="49" charset="0"/>
                <a:cs typeface="Courier New" panose="02070309020205020404" pitchFamily="49" charset="0"/>
              </a:rPr>
              <a:t>full_name = first_name + second_name</a:t>
            </a:r>
          </a:p>
          <a:p>
            <a:endParaRPr lang="en-GB">
              <a:latin typeface="Consolas" panose="020B0609020204030204" pitchFamily="49" charset="0"/>
              <a:cs typeface="Courier New" panose="02070309020205020404" pitchFamily="49" charset="0"/>
            </a:endParaRPr>
          </a:p>
        </p:txBody>
      </p:sp>
      <p:sp>
        <p:nvSpPr>
          <p:cNvPr id="4" name="Content Placeholder 2">
            <a:extLst>
              <a:ext uri="{FF2B5EF4-FFF2-40B4-BE49-F238E27FC236}">
                <a16:creationId xmlns:a16="http://schemas.microsoft.com/office/drawing/2014/main" id="{9580E0D2-F137-71A6-CB20-6A726C95C2CC}"/>
              </a:ext>
            </a:extLst>
          </p:cNvPr>
          <p:cNvSpPr txBox="1">
            <a:spLocks/>
          </p:cNvSpPr>
          <p:nvPr/>
        </p:nvSpPr>
        <p:spPr>
          <a:xfrm>
            <a:off x="838200" y="5922694"/>
            <a:ext cx="10515600" cy="570181"/>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numeric_name = float(first_name)</a:t>
            </a:r>
          </a:p>
          <a:p>
            <a:pPr marL="0" indent="0">
              <a:buFont typeface="Arial" panose="020B0604020202020204" pitchFamily="34" charset="0"/>
              <a:buNone/>
            </a:pPr>
            <a:endParaRPr lang="en-US">
              <a:latin typeface="Consolas" panose="020B0609020204030204" pitchFamily="49" charset="0"/>
              <a:cs typeface="Courier New" panose="02070309020205020404" pitchFamily="49" charset="0"/>
            </a:endParaRPr>
          </a:p>
          <a:p>
            <a:endParaRPr lang="en-GB">
              <a:latin typeface="Consolas" panose="020B0609020204030204" pitchFamily="49" charset="0"/>
              <a:cs typeface="Courier New" panose="02070309020205020404" pitchFamily="49" charset="0"/>
            </a:endParaRPr>
          </a:p>
        </p:txBody>
      </p:sp>
      <p:sp>
        <p:nvSpPr>
          <p:cNvPr id="5" name="Content Placeholder 2">
            <a:extLst>
              <a:ext uri="{FF2B5EF4-FFF2-40B4-BE49-F238E27FC236}">
                <a16:creationId xmlns:a16="http://schemas.microsoft.com/office/drawing/2014/main" id="{92BDFEBD-0985-CE46-BEEB-47643A76D812}"/>
              </a:ext>
            </a:extLst>
          </p:cNvPr>
          <p:cNvSpPr txBox="1">
            <a:spLocks/>
          </p:cNvSpPr>
          <p:nvPr/>
        </p:nvSpPr>
        <p:spPr>
          <a:xfrm>
            <a:off x="838200" y="3580802"/>
            <a:ext cx="10515600" cy="2054040"/>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Variable types have different functions and methods that can be used on them</a:t>
            </a:r>
          </a:p>
          <a:p>
            <a:r>
              <a:rPr lang="en-US">
                <a:cs typeface="Courier New" panose="02070309020205020404" pitchFamily="49" charset="0"/>
              </a:rPr>
              <a:t>Try some of the string methods from the cheat sheet</a:t>
            </a:r>
          </a:p>
          <a:p>
            <a:r>
              <a:rPr lang="en-US">
                <a:cs typeface="Courier New" panose="02070309020205020404" pitchFamily="49" charset="0"/>
              </a:rPr>
              <a:t>Try the line below. Does it work and, if not, why not?</a:t>
            </a:r>
          </a:p>
          <a:p>
            <a:endParaRPr lang="en-US">
              <a:cs typeface="Courier New" panose="02070309020205020404" pitchFamily="49" charset="0"/>
            </a:endParaRPr>
          </a:p>
          <a:p>
            <a:endParaRPr lang="en-GB">
              <a:cs typeface="Courier New" panose="02070309020205020404" pitchFamily="49" charset="0"/>
            </a:endParaRPr>
          </a:p>
        </p:txBody>
      </p:sp>
    </p:spTree>
    <p:extLst>
      <p:ext uri="{BB962C8B-B14F-4D97-AF65-F5344CB8AC3E}">
        <p14:creationId xmlns:p14="http://schemas.microsoft.com/office/powerpoint/2010/main" val="2401671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Variables: Examining variables</a:t>
            </a:r>
            <a:endParaRPr lang="en-GB"/>
          </a:p>
        </p:txBody>
      </p:sp>
      <p:sp>
        <p:nvSpPr>
          <p:cNvPr id="4" name="Content Placeholder 2">
            <a:extLst>
              <a:ext uri="{FF2B5EF4-FFF2-40B4-BE49-F238E27FC236}">
                <a16:creationId xmlns:a16="http://schemas.microsoft.com/office/drawing/2014/main" id="{9580E0D2-F137-71A6-CB20-6A726C95C2CC}"/>
              </a:ext>
            </a:extLst>
          </p:cNvPr>
          <p:cNvSpPr txBox="1">
            <a:spLocks/>
          </p:cNvSpPr>
          <p:nvPr/>
        </p:nvSpPr>
        <p:spPr>
          <a:xfrm>
            <a:off x="838200" y="1681658"/>
            <a:ext cx="10515600" cy="1144670"/>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first_name = “jaime”</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print(type(first_name))</a:t>
            </a:r>
          </a:p>
          <a:p>
            <a:pPr marL="0" indent="0">
              <a:buFont typeface="Arial" panose="020B0604020202020204" pitchFamily="34" charset="0"/>
              <a:buNone/>
            </a:pPr>
            <a:endParaRPr lang="en-US">
              <a:latin typeface="Consolas" panose="020B0609020204030204" pitchFamily="49" charset="0"/>
              <a:cs typeface="Courier New" panose="02070309020205020404" pitchFamily="49" charset="0"/>
            </a:endParaRPr>
          </a:p>
          <a:p>
            <a:pPr marL="0" indent="0">
              <a:buFont typeface="Arial" panose="020B0604020202020204" pitchFamily="34" charset="0"/>
              <a:buNone/>
            </a:pPr>
            <a:endParaRPr lang="en-US">
              <a:latin typeface="Consolas" panose="020B0609020204030204" pitchFamily="49" charset="0"/>
              <a:cs typeface="Courier New" panose="02070309020205020404" pitchFamily="49" charset="0"/>
            </a:endParaRPr>
          </a:p>
          <a:p>
            <a:endParaRPr lang="en-GB">
              <a:latin typeface="Consolas" panose="020B0609020204030204" pitchFamily="49" charset="0"/>
              <a:cs typeface="Courier New" panose="02070309020205020404" pitchFamily="49" charset="0"/>
            </a:endParaRPr>
          </a:p>
        </p:txBody>
      </p:sp>
      <p:sp>
        <p:nvSpPr>
          <p:cNvPr id="8" name="Content Placeholder 2">
            <a:extLst>
              <a:ext uri="{FF2B5EF4-FFF2-40B4-BE49-F238E27FC236}">
                <a16:creationId xmlns:a16="http://schemas.microsoft.com/office/drawing/2014/main" id="{5960F9E2-0AAD-4B65-F867-0E65D84C709B}"/>
              </a:ext>
            </a:extLst>
          </p:cNvPr>
          <p:cNvSpPr txBox="1">
            <a:spLocks/>
          </p:cNvSpPr>
          <p:nvPr/>
        </p:nvSpPr>
        <p:spPr>
          <a:xfrm>
            <a:off x="838200" y="4754445"/>
            <a:ext cx="10515600" cy="552882"/>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print(dir(first_name))</a:t>
            </a:r>
          </a:p>
          <a:p>
            <a:pPr marL="0" indent="0">
              <a:buFont typeface="Arial" panose="020B0604020202020204" pitchFamily="34" charset="0"/>
              <a:buNone/>
            </a:pPr>
            <a:endParaRPr lang="en-US">
              <a:latin typeface="Consolas" panose="020B0609020204030204" pitchFamily="49" charset="0"/>
              <a:cs typeface="Courier New" panose="02070309020205020404" pitchFamily="49" charset="0"/>
            </a:endParaRPr>
          </a:p>
          <a:p>
            <a:pPr marL="0" indent="0">
              <a:buFont typeface="Arial" panose="020B0604020202020204" pitchFamily="34" charset="0"/>
              <a:buNone/>
            </a:pPr>
            <a:endParaRPr lang="en-US">
              <a:latin typeface="Consolas" panose="020B0609020204030204" pitchFamily="49" charset="0"/>
              <a:cs typeface="Courier New" panose="02070309020205020404" pitchFamily="49" charset="0"/>
            </a:endParaRPr>
          </a:p>
          <a:p>
            <a:endParaRPr lang="en-GB">
              <a:latin typeface="Consolas" panose="020B0609020204030204" pitchFamily="49" charset="0"/>
              <a:cs typeface="Courier New" panose="02070309020205020404" pitchFamily="49" charset="0"/>
            </a:endParaRPr>
          </a:p>
        </p:txBody>
      </p:sp>
      <p:sp>
        <p:nvSpPr>
          <p:cNvPr id="9" name="Content Placeholder 2">
            <a:extLst>
              <a:ext uri="{FF2B5EF4-FFF2-40B4-BE49-F238E27FC236}">
                <a16:creationId xmlns:a16="http://schemas.microsoft.com/office/drawing/2014/main" id="{71DF4C93-8A4A-497A-94AE-4A69E7B019E1}"/>
              </a:ext>
            </a:extLst>
          </p:cNvPr>
          <p:cNvSpPr txBox="1">
            <a:spLocks/>
          </p:cNvSpPr>
          <p:nvPr/>
        </p:nvSpPr>
        <p:spPr>
          <a:xfrm>
            <a:off x="838200" y="3325121"/>
            <a:ext cx="10515600" cy="1015310"/>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B0609020204030204" pitchFamily="49" charset="0"/>
                <a:cs typeface="Courier New" panose="02070309020205020404" pitchFamily="49" charset="0"/>
              </a:rPr>
              <a:t>type</a:t>
            </a:r>
            <a:r>
              <a:rPr lang="en-US">
                <a:cs typeface="Courier New" panose="02070309020205020404" pitchFamily="49" charset="0"/>
              </a:rPr>
              <a:t> shows you what type of variable</a:t>
            </a:r>
          </a:p>
          <a:p>
            <a:r>
              <a:rPr lang="en-US">
                <a:cs typeface="Courier New" panose="02070309020205020404" pitchFamily="49" charset="0"/>
              </a:rPr>
              <a:t>What does </a:t>
            </a:r>
            <a:r>
              <a:rPr lang="en-US">
                <a:latin typeface="Consolas" panose="020B0609020204030204" pitchFamily="49" charset="0"/>
                <a:cs typeface="Courier New" panose="02070309020205020404" pitchFamily="49" charset="0"/>
              </a:rPr>
              <a:t>dir</a:t>
            </a:r>
            <a:r>
              <a:rPr lang="en-US">
                <a:cs typeface="Courier New" panose="02070309020205020404" pitchFamily="49" charset="0"/>
              </a:rPr>
              <a:t> show you?</a:t>
            </a:r>
          </a:p>
          <a:p>
            <a:endParaRPr lang="en-US">
              <a:cs typeface="Courier New" panose="02070309020205020404" pitchFamily="49" charset="0"/>
            </a:endParaRPr>
          </a:p>
          <a:p>
            <a:endParaRPr lang="en-US">
              <a:cs typeface="Courier New" panose="02070309020205020404" pitchFamily="49" charset="0"/>
            </a:endParaRPr>
          </a:p>
          <a:p>
            <a:endParaRPr lang="en-GB">
              <a:cs typeface="Courier New" panose="02070309020205020404" pitchFamily="49" charset="0"/>
            </a:endParaRPr>
          </a:p>
        </p:txBody>
      </p:sp>
    </p:spTree>
    <p:extLst>
      <p:ext uri="{BB962C8B-B14F-4D97-AF65-F5344CB8AC3E}">
        <p14:creationId xmlns:p14="http://schemas.microsoft.com/office/powerpoint/2010/main" val="3273910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Variables: Numeric and Boolean types</a:t>
            </a:r>
            <a:endParaRPr lang="en-GB"/>
          </a:p>
        </p:txBody>
      </p:sp>
      <p:sp>
        <p:nvSpPr>
          <p:cNvPr id="4" name="Content Placeholder 2">
            <a:extLst>
              <a:ext uri="{FF2B5EF4-FFF2-40B4-BE49-F238E27FC236}">
                <a16:creationId xmlns:a16="http://schemas.microsoft.com/office/drawing/2014/main" id="{9580E0D2-F137-71A6-CB20-6A726C95C2CC}"/>
              </a:ext>
            </a:extLst>
          </p:cNvPr>
          <p:cNvSpPr txBox="1">
            <a:spLocks/>
          </p:cNvSpPr>
          <p:nvPr/>
        </p:nvSpPr>
        <p:spPr>
          <a:xfrm>
            <a:off x="838200" y="4116098"/>
            <a:ext cx="10515600" cy="497465"/>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my_boolean_value = true</a:t>
            </a:r>
          </a:p>
          <a:p>
            <a:pPr marL="0" indent="0">
              <a:buFont typeface="Arial" panose="020B0604020202020204" pitchFamily="34" charset="0"/>
              <a:buNone/>
            </a:pPr>
            <a:endParaRPr lang="en-US">
              <a:latin typeface="Consolas" panose="020B0609020204030204" pitchFamily="49" charset="0"/>
              <a:cs typeface="Courier New" panose="02070309020205020404" pitchFamily="49" charset="0"/>
            </a:endParaRPr>
          </a:p>
          <a:p>
            <a:pPr marL="0" indent="0">
              <a:buFont typeface="Arial" panose="020B0604020202020204" pitchFamily="34" charset="0"/>
              <a:buNone/>
            </a:pPr>
            <a:endParaRPr lang="en-US">
              <a:latin typeface="Consolas" panose="020B0609020204030204" pitchFamily="49" charset="0"/>
              <a:cs typeface="Courier New" panose="02070309020205020404" pitchFamily="49" charset="0"/>
            </a:endParaRPr>
          </a:p>
          <a:p>
            <a:pPr marL="0" indent="0">
              <a:buFont typeface="Arial" panose="020B0604020202020204" pitchFamily="34" charset="0"/>
              <a:buNone/>
            </a:pPr>
            <a:endParaRPr lang="en-US">
              <a:latin typeface="Consolas" panose="020B0609020204030204" pitchFamily="49" charset="0"/>
              <a:cs typeface="Courier New" panose="02070309020205020404" pitchFamily="49" charset="0"/>
            </a:endParaRPr>
          </a:p>
          <a:p>
            <a:endParaRPr lang="en-GB">
              <a:latin typeface="Consolas" panose="020B0609020204030204" pitchFamily="49" charset="0"/>
              <a:cs typeface="Courier New" panose="02070309020205020404" pitchFamily="49" charset="0"/>
            </a:endParaRPr>
          </a:p>
        </p:txBody>
      </p:sp>
      <p:sp>
        <p:nvSpPr>
          <p:cNvPr id="5" name="Content Placeholder 2">
            <a:extLst>
              <a:ext uri="{FF2B5EF4-FFF2-40B4-BE49-F238E27FC236}">
                <a16:creationId xmlns:a16="http://schemas.microsoft.com/office/drawing/2014/main" id="{92BDFEBD-0985-CE46-BEEB-47643A76D812}"/>
              </a:ext>
            </a:extLst>
          </p:cNvPr>
          <p:cNvSpPr txBox="1">
            <a:spLocks/>
          </p:cNvSpPr>
          <p:nvPr/>
        </p:nvSpPr>
        <p:spPr>
          <a:xfrm>
            <a:off x="838200" y="1638793"/>
            <a:ext cx="10515600" cy="1531917"/>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Spend some time experimenting with integers, floats, and booleans</a:t>
            </a:r>
          </a:p>
          <a:p>
            <a:r>
              <a:rPr lang="en-US">
                <a:cs typeface="Courier New" panose="02070309020205020404" pitchFamily="49" charset="0"/>
              </a:rPr>
              <a:t>Try converting different variables to different types</a:t>
            </a:r>
          </a:p>
          <a:p>
            <a:r>
              <a:rPr lang="en-US">
                <a:cs typeface="Courier New" panose="02070309020205020404" pitchFamily="49" charset="0"/>
              </a:rPr>
              <a:t>Use </a:t>
            </a:r>
            <a:r>
              <a:rPr lang="en-US">
                <a:latin typeface="Consolas" panose="020B0609020204030204" pitchFamily="49" charset="0"/>
                <a:cs typeface="Courier New" panose="02070309020205020404" pitchFamily="49" charset="0"/>
              </a:rPr>
              <a:t>type</a:t>
            </a:r>
            <a:r>
              <a:rPr lang="en-US">
                <a:cs typeface="Courier New" panose="02070309020205020404" pitchFamily="49" charset="0"/>
              </a:rPr>
              <a:t> and </a:t>
            </a:r>
            <a:r>
              <a:rPr lang="en-US">
                <a:latin typeface="Consolas" panose="020B0609020204030204" pitchFamily="49" charset="0"/>
                <a:cs typeface="Courier New" panose="02070309020205020404" pitchFamily="49" charset="0"/>
              </a:rPr>
              <a:t>dir</a:t>
            </a:r>
            <a:r>
              <a:rPr lang="en-US">
                <a:cs typeface="Courier New" panose="02070309020205020404" pitchFamily="49" charset="0"/>
              </a:rPr>
              <a:t> to investigate them</a:t>
            </a:r>
          </a:p>
          <a:p>
            <a:endParaRPr lang="en-US">
              <a:cs typeface="Courier New" panose="02070309020205020404" pitchFamily="49" charset="0"/>
            </a:endParaRPr>
          </a:p>
          <a:p>
            <a:endParaRPr lang="en-GB">
              <a:cs typeface="Courier New" panose="02070309020205020404" pitchFamily="49" charset="0"/>
            </a:endParaRPr>
          </a:p>
        </p:txBody>
      </p:sp>
      <p:sp>
        <p:nvSpPr>
          <p:cNvPr id="3" name="Content Placeholder 2">
            <a:extLst>
              <a:ext uri="{FF2B5EF4-FFF2-40B4-BE49-F238E27FC236}">
                <a16:creationId xmlns:a16="http://schemas.microsoft.com/office/drawing/2014/main" id="{46C41277-6D5B-793A-8995-D9C7908C82EB}"/>
              </a:ext>
            </a:extLst>
          </p:cNvPr>
          <p:cNvSpPr txBox="1">
            <a:spLocks/>
          </p:cNvSpPr>
          <p:nvPr/>
        </p:nvSpPr>
        <p:spPr>
          <a:xfrm>
            <a:off x="838200" y="3299360"/>
            <a:ext cx="10515600" cy="595746"/>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What is wrong with the following code blocks…?</a:t>
            </a:r>
          </a:p>
          <a:p>
            <a:endParaRPr lang="en-US">
              <a:cs typeface="Courier New" panose="02070309020205020404" pitchFamily="49" charset="0"/>
            </a:endParaRPr>
          </a:p>
          <a:p>
            <a:endParaRPr lang="en-GB">
              <a:cs typeface="Courier New" panose="02070309020205020404" pitchFamily="49" charset="0"/>
            </a:endParaRPr>
          </a:p>
        </p:txBody>
      </p:sp>
      <p:sp>
        <p:nvSpPr>
          <p:cNvPr id="6" name="Content Placeholder 2">
            <a:extLst>
              <a:ext uri="{FF2B5EF4-FFF2-40B4-BE49-F238E27FC236}">
                <a16:creationId xmlns:a16="http://schemas.microsoft.com/office/drawing/2014/main" id="{FE75C367-A4A9-1A91-46A8-FE54C79A091B}"/>
              </a:ext>
            </a:extLst>
          </p:cNvPr>
          <p:cNvSpPr txBox="1">
            <a:spLocks/>
          </p:cNvSpPr>
          <p:nvPr/>
        </p:nvSpPr>
        <p:spPr>
          <a:xfrm>
            <a:off x="838200" y="4779138"/>
            <a:ext cx="4642262" cy="1295091"/>
          </a:xfrm>
          <a:prstGeom prst="rect">
            <a:avLst/>
          </a:prstGeom>
          <a:solidFill>
            <a:schemeClr val="bg2"/>
          </a:solidFill>
          <a:ln>
            <a:no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x = 2</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y = “four”</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print(x + y)</a:t>
            </a:r>
          </a:p>
          <a:p>
            <a:pPr marL="0" indent="0">
              <a:buFont typeface="Arial" panose="020B0604020202020204" pitchFamily="34" charset="0"/>
              <a:buNone/>
            </a:pPr>
            <a:endParaRPr lang="en-US">
              <a:latin typeface="Consolas" panose="020B0609020204030204" pitchFamily="49" charset="0"/>
              <a:cs typeface="Courier New" panose="02070309020205020404" pitchFamily="49" charset="0"/>
            </a:endParaRPr>
          </a:p>
          <a:p>
            <a:pPr marL="0" indent="0">
              <a:buFont typeface="Arial" panose="020B0604020202020204" pitchFamily="34" charset="0"/>
              <a:buNone/>
            </a:pPr>
            <a:endParaRPr lang="en-US">
              <a:latin typeface="Consolas" panose="020B0609020204030204" pitchFamily="49" charset="0"/>
              <a:cs typeface="Courier New" panose="02070309020205020404" pitchFamily="49" charset="0"/>
            </a:endParaRPr>
          </a:p>
          <a:p>
            <a:pPr marL="0" indent="0">
              <a:buFont typeface="Arial" panose="020B0604020202020204" pitchFamily="34" charset="0"/>
              <a:buNone/>
            </a:pPr>
            <a:endParaRPr lang="en-US">
              <a:latin typeface="Consolas" panose="020B0609020204030204" pitchFamily="49" charset="0"/>
              <a:cs typeface="Courier New" panose="02070309020205020404" pitchFamily="49" charset="0"/>
            </a:endParaRPr>
          </a:p>
          <a:p>
            <a:endParaRPr lang="en-GB">
              <a:latin typeface="Consolas" panose="020B0609020204030204" pitchFamily="49" charset="0"/>
              <a:cs typeface="Courier New" panose="02070309020205020404" pitchFamily="49" charset="0"/>
            </a:endParaRPr>
          </a:p>
        </p:txBody>
      </p:sp>
      <p:sp>
        <p:nvSpPr>
          <p:cNvPr id="7" name="Content Placeholder 2">
            <a:extLst>
              <a:ext uri="{FF2B5EF4-FFF2-40B4-BE49-F238E27FC236}">
                <a16:creationId xmlns:a16="http://schemas.microsoft.com/office/drawing/2014/main" id="{BD50E79D-D7F7-6C28-C7D2-7CAD6D7B24F5}"/>
              </a:ext>
            </a:extLst>
          </p:cNvPr>
          <p:cNvSpPr txBox="1">
            <a:spLocks/>
          </p:cNvSpPr>
          <p:nvPr/>
        </p:nvSpPr>
        <p:spPr>
          <a:xfrm>
            <a:off x="6655129" y="4754707"/>
            <a:ext cx="4642262" cy="1295091"/>
          </a:xfrm>
          <a:prstGeom prst="rect">
            <a:avLst/>
          </a:prstGeom>
          <a:solidFill>
            <a:schemeClr val="bg2"/>
          </a:solidFill>
          <a:ln>
            <a:no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A = 2</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B = 4</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print(a + b)</a:t>
            </a:r>
          </a:p>
          <a:p>
            <a:pPr marL="0" indent="0">
              <a:buFont typeface="Arial" panose="020B0604020202020204" pitchFamily="34" charset="0"/>
              <a:buNone/>
            </a:pPr>
            <a:endParaRPr lang="en-US">
              <a:latin typeface="Consolas" panose="020B0609020204030204" pitchFamily="49" charset="0"/>
              <a:cs typeface="Courier New" panose="02070309020205020404" pitchFamily="49" charset="0"/>
            </a:endParaRPr>
          </a:p>
          <a:p>
            <a:pPr marL="0" indent="0">
              <a:buFont typeface="Arial" panose="020B0604020202020204" pitchFamily="34" charset="0"/>
              <a:buNone/>
            </a:pPr>
            <a:endParaRPr lang="en-US">
              <a:latin typeface="Consolas" panose="020B0609020204030204" pitchFamily="49" charset="0"/>
              <a:cs typeface="Courier New" panose="02070309020205020404" pitchFamily="49" charset="0"/>
            </a:endParaRPr>
          </a:p>
          <a:p>
            <a:pPr marL="0" indent="0">
              <a:buFont typeface="Arial" panose="020B0604020202020204" pitchFamily="34" charset="0"/>
              <a:buNone/>
            </a:pPr>
            <a:endParaRPr lang="en-US">
              <a:latin typeface="Consolas" panose="020B0609020204030204" pitchFamily="49" charset="0"/>
              <a:cs typeface="Courier New" panose="02070309020205020404" pitchFamily="49" charset="0"/>
            </a:endParaRPr>
          </a:p>
          <a:p>
            <a:endParaRPr lang="en-GB">
              <a:latin typeface="Consolas" panose="020B0609020204030204" pitchFamily="49" charset="0"/>
              <a:cs typeface="Courier New" panose="02070309020205020404" pitchFamily="49" charset="0"/>
            </a:endParaRPr>
          </a:p>
        </p:txBody>
      </p:sp>
    </p:spTree>
    <p:extLst>
      <p:ext uri="{BB962C8B-B14F-4D97-AF65-F5344CB8AC3E}">
        <p14:creationId xmlns:p14="http://schemas.microsoft.com/office/powerpoint/2010/main" val="2537989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3" grpId="0" animBg="1"/>
      <p:bldP spid="6" grpId="0" animBg="1"/>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Variables: Lists</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1825625"/>
            <a:ext cx="10515600" cy="570181"/>
          </a:xfrm>
          <a:solidFill>
            <a:schemeClr val="bg2"/>
          </a:solidFill>
          <a:ln>
            <a:noFill/>
          </a:ln>
        </p:spPr>
        <p:txBody>
          <a:bodyPr>
            <a:normAutofit/>
          </a:bodyPr>
          <a:lstStyle/>
          <a:p>
            <a:pPr marL="0" indent="0">
              <a:buNone/>
            </a:pPr>
            <a:r>
              <a:rPr lang="en-US">
                <a:latin typeface="Consolas" panose="020B0609020204030204" pitchFamily="49" charset="0"/>
                <a:cs typeface="Courier New" panose="02070309020205020404" pitchFamily="49" charset="0"/>
              </a:rPr>
              <a:t>names = “Jaime”, “Jayla”, “Loudon”, “Booker”</a:t>
            </a:r>
          </a:p>
          <a:p>
            <a:endParaRPr lang="en-GB">
              <a:latin typeface="Consolas" panose="020B0609020204030204" pitchFamily="49" charset="0"/>
              <a:cs typeface="Courier New" panose="02070309020205020404" pitchFamily="49" charset="0"/>
            </a:endParaRPr>
          </a:p>
        </p:txBody>
      </p:sp>
      <p:sp>
        <p:nvSpPr>
          <p:cNvPr id="5" name="Content Placeholder 2">
            <a:extLst>
              <a:ext uri="{FF2B5EF4-FFF2-40B4-BE49-F238E27FC236}">
                <a16:creationId xmlns:a16="http://schemas.microsoft.com/office/drawing/2014/main" id="{0A0E2FAF-A9B5-1622-95F7-099ED4EE2CDE}"/>
              </a:ext>
            </a:extLst>
          </p:cNvPr>
          <p:cNvSpPr txBox="1">
            <a:spLocks/>
          </p:cNvSpPr>
          <p:nvPr/>
        </p:nvSpPr>
        <p:spPr>
          <a:xfrm>
            <a:off x="838200" y="2791093"/>
            <a:ext cx="10515600" cy="1003341"/>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To make a list you enclose a set of items in square brackets</a:t>
            </a:r>
          </a:p>
          <a:p>
            <a:r>
              <a:rPr lang="en-US">
                <a:cs typeface="Courier New" panose="02070309020205020404" pitchFamily="49" charset="0"/>
              </a:rPr>
              <a:t>You can also make an empty list, which comes in handy sometimes</a:t>
            </a:r>
          </a:p>
          <a:p>
            <a:endParaRPr lang="en-GB">
              <a:cs typeface="Courier New" panose="02070309020205020404" pitchFamily="49" charset="0"/>
            </a:endParaRPr>
          </a:p>
        </p:txBody>
      </p:sp>
      <p:sp>
        <p:nvSpPr>
          <p:cNvPr id="6" name="Content Placeholder 2">
            <a:extLst>
              <a:ext uri="{FF2B5EF4-FFF2-40B4-BE49-F238E27FC236}">
                <a16:creationId xmlns:a16="http://schemas.microsoft.com/office/drawing/2014/main" id="{B8473F36-A18C-2E31-2C8E-25079AA5CAAB}"/>
              </a:ext>
            </a:extLst>
          </p:cNvPr>
          <p:cNvSpPr txBox="1">
            <a:spLocks/>
          </p:cNvSpPr>
          <p:nvPr/>
        </p:nvSpPr>
        <p:spPr>
          <a:xfrm>
            <a:off x="838200" y="4347152"/>
            <a:ext cx="10515600" cy="570181"/>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names = [“Jaime”, “Jayla”, “Loudon”, “Booker”]</a:t>
            </a:r>
          </a:p>
          <a:p>
            <a:endParaRPr lang="en-GB">
              <a:latin typeface="Consolas" panose="020B0609020204030204" pitchFamily="49" charset="0"/>
              <a:cs typeface="Courier New" panose="02070309020205020404" pitchFamily="49" charset="0"/>
            </a:endParaRPr>
          </a:p>
        </p:txBody>
      </p:sp>
      <p:sp>
        <p:nvSpPr>
          <p:cNvPr id="8" name="Content Placeholder 2">
            <a:extLst>
              <a:ext uri="{FF2B5EF4-FFF2-40B4-BE49-F238E27FC236}">
                <a16:creationId xmlns:a16="http://schemas.microsoft.com/office/drawing/2014/main" id="{E9868AE5-A2CF-580C-E766-207C961A0FD5}"/>
              </a:ext>
            </a:extLst>
          </p:cNvPr>
          <p:cNvSpPr txBox="1">
            <a:spLocks/>
          </p:cNvSpPr>
          <p:nvPr/>
        </p:nvSpPr>
        <p:spPr>
          <a:xfrm>
            <a:off x="838200" y="5140820"/>
            <a:ext cx="10515600" cy="570181"/>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empty_list = []</a:t>
            </a:r>
          </a:p>
          <a:p>
            <a:endParaRPr lang="en-GB">
              <a:latin typeface="Consolas" panose="020B0609020204030204" pitchFamily="49" charset="0"/>
              <a:cs typeface="Courier New" panose="02070309020205020404" pitchFamily="49" charset="0"/>
            </a:endParaRPr>
          </a:p>
        </p:txBody>
      </p:sp>
    </p:spTree>
    <p:extLst>
      <p:ext uri="{BB962C8B-B14F-4D97-AF65-F5344CB8AC3E}">
        <p14:creationId xmlns:p14="http://schemas.microsoft.com/office/powerpoint/2010/main" val="2517339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Variables: Lists and indexing</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1825625"/>
            <a:ext cx="10515600" cy="965468"/>
          </a:xfrm>
          <a:solidFill>
            <a:schemeClr val="bg2"/>
          </a:solidFill>
          <a:ln>
            <a:noFill/>
          </a:ln>
        </p:spPr>
        <p:txBody>
          <a:bodyPr>
            <a:normAutofit lnSpcReduction="10000"/>
          </a:bodyPr>
          <a:lstStyle/>
          <a:p>
            <a:pPr marL="0" indent="0">
              <a:buNone/>
            </a:pPr>
            <a:r>
              <a:rPr lang="en-US">
                <a:latin typeface="Consolas" panose="020B0609020204030204" pitchFamily="49" charset="0"/>
                <a:cs typeface="Courier New" panose="02070309020205020404" pitchFamily="49" charset="0"/>
              </a:rPr>
              <a:t>names = [“Jaime”, “Jayla”, “Loudon”, “Booker”]</a:t>
            </a:r>
          </a:p>
          <a:p>
            <a:pPr marL="0" indent="0">
              <a:buNone/>
            </a:pPr>
            <a:r>
              <a:rPr lang="en-US">
                <a:latin typeface="Consolas" panose="020B0609020204030204" pitchFamily="49" charset="0"/>
                <a:cs typeface="Courier New" panose="02070309020205020404" pitchFamily="49" charset="0"/>
              </a:rPr>
              <a:t>print(names[1])</a:t>
            </a:r>
          </a:p>
          <a:p>
            <a:endParaRPr lang="en-GB">
              <a:latin typeface="Consolas" panose="020B0609020204030204" pitchFamily="49" charset="0"/>
              <a:cs typeface="Courier New" panose="02070309020205020404" pitchFamily="49" charset="0"/>
            </a:endParaRPr>
          </a:p>
        </p:txBody>
      </p:sp>
      <p:sp>
        <p:nvSpPr>
          <p:cNvPr id="5" name="Content Placeholder 2">
            <a:extLst>
              <a:ext uri="{FF2B5EF4-FFF2-40B4-BE49-F238E27FC236}">
                <a16:creationId xmlns:a16="http://schemas.microsoft.com/office/drawing/2014/main" id="{0A0E2FAF-A9B5-1622-95F7-099ED4EE2CDE}"/>
              </a:ext>
            </a:extLst>
          </p:cNvPr>
          <p:cNvSpPr txBox="1">
            <a:spLocks/>
          </p:cNvSpPr>
          <p:nvPr/>
        </p:nvSpPr>
        <p:spPr>
          <a:xfrm>
            <a:off x="838200" y="3111726"/>
            <a:ext cx="10515600" cy="2179230"/>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You can select items in a list using square brackets </a:t>
            </a:r>
            <a:r>
              <a:rPr lang="en-US" i="1">
                <a:cs typeface="Courier New" panose="02070309020205020404" pitchFamily="49" charset="0"/>
              </a:rPr>
              <a:t>after</a:t>
            </a:r>
            <a:r>
              <a:rPr lang="en-US">
                <a:cs typeface="Courier New" panose="02070309020205020404" pitchFamily="49" charset="0"/>
              </a:rPr>
              <a:t> the list</a:t>
            </a:r>
          </a:p>
          <a:p>
            <a:r>
              <a:rPr lang="en-US">
                <a:cs typeface="Courier New" panose="02070309020205020404" pitchFamily="49" charset="0"/>
              </a:rPr>
              <a:t>This is called indexing</a:t>
            </a:r>
          </a:p>
          <a:p>
            <a:r>
              <a:rPr lang="en-US">
                <a:cs typeface="Courier New" panose="02070309020205020404" pitchFamily="49" charset="0"/>
              </a:rPr>
              <a:t>In Python indexing starts at [0]</a:t>
            </a:r>
          </a:p>
          <a:p>
            <a:r>
              <a:rPr lang="en-US">
                <a:cs typeface="Courier New" panose="02070309020205020404" pitchFamily="49" charset="0"/>
              </a:rPr>
              <a:t>What does the index [-1] do?</a:t>
            </a:r>
          </a:p>
          <a:p>
            <a:endParaRPr lang="en-GB">
              <a:cs typeface="Courier New" panose="02070309020205020404" pitchFamily="49" charset="0"/>
            </a:endParaRPr>
          </a:p>
        </p:txBody>
      </p:sp>
    </p:spTree>
    <p:extLst>
      <p:ext uri="{BB962C8B-B14F-4D97-AF65-F5344CB8AC3E}">
        <p14:creationId xmlns:p14="http://schemas.microsoft.com/office/powerpoint/2010/main" val="2068817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Variables: Lists</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1540539"/>
            <a:ext cx="10515600" cy="1683533"/>
          </a:xfrm>
          <a:solidFill>
            <a:schemeClr val="bg2"/>
          </a:solidFill>
          <a:ln>
            <a:noFill/>
          </a:ln>
        </p:spPr>
        <p:txBody>
          <a:bodyPr>
            <a:normAutofit/>
          </a:bodyPr>
          <a:lstStyle/>
          <a:p>
            <a:pPr marL="0" indent="0">
              <a:buNone/>
            </a:pPr>
            <a:r>
              <a:rPr lang="en-US">
                <a:latin typeface="Consolas" panose="020B0609020204030204" pitchFamily="49" charset="0"/>
                <a:cs typeface="Courier New" panose="02070309020205020404" pitchFamily="49" charset="0"/>
              </a:rPr>
              <a:t>names = [“Jaime”, “Jayla”, “Loudon”, “Booker”]</a:t>
            </a:r>
          </a:p>
          <a:p>
            <a:pPr marL="0" indent="0">
              <a:buNone/>
            </a:pPr>
            <a:r>
              <a:rPr lang="en-US">
                <a:latin typeface="Consolas" panose="020B0609020204030204" pitchFamily="49" charset="0"/>
                <a:cs typeface="Courier New" panose="02070309020205020404" pitchFamily="49" charset="0"/>
              </a:rPr>
              <a:t>names.append(“Oliver”)</a:t>
            </a:r>
          </a:p>
          <a:p>
            <a:pPr marL="0" indent="0">
              <a:buNone/>
            </a:pPr>
            <a:r>
              <a:rPr lang="en-US">
                <a:latin typeface="Consolas" panose="020B0609020204030204" pitchFamily="49" charset="0"/>
                <a:cs typeface="Courier New" panose="02070309020205020404" pitchFamily="49" charset="0"/>
              </a:rPr>
              <a:t>names.append(“Little Miss”)</a:t>
            </a:r>
          </a:p>
          <a:p>
            <a:endParaRPr lang="en-GB">
              <a:latin typeface="Consolas" panose="020B0609020204030204" pitchFamily="49" charset="0"/>
              <a:cs typeface="Courier New" panose="02070309020205020404" pitchFamily="49" charset="0"/>
            </a:endParaRPr>
          </a:p>
        </p:txBody>
      </p:sp>
      <p:sp>
        <p:nvSpPr>
          <p:cNvPr id="5" name="Content Placeholder 2">
            <a:extLst>
              <a:ext uri="{FF2B5EF4-FFF2-40B4-BE49-F238E27FC236}">
                <a16:creationId xmlns:a16="http://schemas.microsoft.com/office/drawing/2014/main" id="{0A0E2FAF-A9B5-1622-95F7-099ED4EE2CDE}"/>
              </a:ext>
            </a:extLst>
          </p:cNvPr>
          <p:cNvSpPr txBox="1">
            <a:spLocks/>
          </p:cNvSpPr>
          <p:nvPr/>
        </p:nvSpPr>
        <p:spPr>
          <a:xfrm>
            <a:off x="838200" y="3339078"/>
            <a:ext cx="10515600" cy="1436525"/>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One of the most important list methods is </a:t>
            </a:r>
            <a:r>
              <a:rPr lang="en-US">
                <a:latin typeface="Consolas" panose="020B0609020204030204" pitchFamily="49" charset="0"/>
                <a:cs typeface="Courier New" panose="02070309020205020404" pitchFamily="49" charset="0"/>
              </a:rPr>
              <a:t>append</a:t>
            </a:r>
            <a:r>
              <a:rPr lang="en-US">
                <a:cs typeface="Courier New" panose="02070309020205020404" pitchFamily="49" charset="0"/>
              </a:rPr>
              <a:t>, which adds items to the end of a list</a:t>
            </a:r>
          </a:p>
          <a:p>
            <a:r>
              <a:rPr lang="en-US">
                <a:latin typeface="Consolas" panose="020B0609020204030204" pitchFamily="49" charset="0"/>
                <a:cs typeface="Courier New" panose="02070309020205020404" pitchFamily="49" charset="0"/>
              </a:rPr>
              <a:t>len</a:t>
            </a:r>
            <a:r>
              <a:rPr lang="en-US">
                <a:cs typeface="Courier New" panose="02070309020205020404" pitchFamily="49" charset="0"/>
              </a:rPr>
              <a:t> is also very useful and gets the length of the list</a:t>
            </a:r>
          </a:p>
        </p:txBody>
      </p:sp>
      <p:sp>
        <p:nvSpPr>
          <p:cNvPr id="4" name="Content Placeholder 2">
            <a:extLst>
              <a:ext uri="{FF2B5EF4-FFF2-40B4-BE49-F238E27FC236}">
                <a16:creationId xmlns:a16="http://schemas.microsoft.com/office/drawing/2014/main" id="{9B62FA3E-A84A-4315-982D-3CDBBB90D329}"/>
              </a:ext>
            </a:extLst>
          </p:cNvPr>
          <p:cNvSpPr txBox="1">
            <a:spLocks/>
          </p:cNvSpPr>
          <p:nvPr/>
        </p:nvSpPr>
        <p:spPr>
          <a:xfrm>
            <a:off x="838200" y="4890609"/>
            <a:ext cx="10515600" cy="525947"/>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print(len(names))</a:t>
            </a:r>
          </a:p>
          <a:p>
            <a:endParaRPr lang="en-GB">
              <a:latin typeface="Consolas" panose="020B0609020204030204" pitchFamily="49" charset="0"/>
              <a:cs typeface="Courier New" panose="02070309020205020404" pitchFamily="49" charset="0"/>
            </a:endParaRPr>
          </a:p>
        </p:txBody>
      </p:sp>
      <p:sp>
        <p:nvSpPr>
          <p:cNvPr id="6" name="Content Placeholder 2">
            <a:extLst>
              <a:ext uri="{FF2B5EF4-FFF2-40B4-BE49-F238E27FC236}">
                <a16:creationId xmlns:a16="http://schemas.microsoft.com/office/drawing/2014/main" id="{3C491C4A-75CB-57AD-0921-6329F37C771B}"/>
              </a:ext>
            </a:extLst>
          </p:cNvPr>
          <p:cNvSpPr txBox="1">
            <a:spLocks/>
          </p:cNvSpPr>
          <p:nvPr/>
        </p:nvSpPr>
        <p:spPr>
          <a:xfrm>
            <a:off x="838200" y="5531562"/>
            <a:ext cx="10515600" cy="897159"/>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Try experimenting with some of the other list methods on the cheat sheet</a:t>
            </a:r>
          </a:p>
        </p:txBody>
      </p:sp>
    </p:spTree>
    <p:extLst>
      <p:ext uri="{BB962C8B-B14F-4D97-AF65-F5344CB8AC3E}">
        <p14:creationId xmlns:p14="http://schemas.microsoft.com/office/powerpoint/2010/main" val="3590859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989F0-1C51-E10F-DEEA-C21E4C52734F}"/>
              </a:ext>
            </a:extLst>
          </p:cNvPr>
          <p:cNvSpPr>
            <a:spLocks noGrp="1"/>
          </p:cNvSpPr>
          <p:nvPr>
            <p:ph type="title"/>
          </p:nvPr>
        </p:nvSpPr>
        <p:spPr/>
        <p:txBody>
          <a:bodyPr/>
          <a:lstStyle/>
          <a:p>
            <a:r>
              <a:rPr lang="nb-NO"/>
              <a:t>For-loops</a:t>
            </a:r>
            <a:endParaRPr lang="en-GB"/>
          </a:p>
        </p:txBody>
      </p:sp>
      <p:sp>
        <p:nvSpPr>
          <p:cNvPr id="3" name="Content Placeholder 2">
            <a:extLst>
              <a:ext uri="{FF2B5EF4-FFF2-40B4-BE49-F238E27FC236}">
                <a16:creationId xmlns:a16="http://schemas.microsoft.com/office/drawing/2014/main" id="{0C9F4C29-A09D-7D88-DE34-2D22AE395905}"/>
              </a:ext>
            </a:extLst>
          </p:cNvPr>
          <p:cNvSpPr>
            <a:spLocks noGrp="1"/>
          </p:cNvSpPr>
          <p:nvPr>
            <p:ph idx="1"/>
          </p:nvPr>
        </p:nvSpPr>
        <p:spPr>
          <a:xfrm>
            <a:off x="838200" y="1825625"/>
            <a:ext cx="10515600" cy="2732415"/>
          </a:xfrm>
        </p:spPr>
        <p:txBody>
          <a:bodyPr/>
          <a:lstStyle/>
          <a:p>
            <a:r>
              <a:rPr lang="nb-NO"/>
              <a:t>When we are programming we often want to do the same operation on many bits of data</a:t>
            </a:r>
          </a:p>
          <a:p>
            <a:r>
              <a:rPr lang="nb-NO"/>
              <a:t>This is one of the main ways that computers and coding can save us time</a:t>
            </a:r>
          </a:p>
          <a:p>
            <a:r>
              <a:rPr lang="nb-NO"/>
              <a:t>For example, if we had the ages (in years) of a group of people we might want to convert this into ages in months</a:t>
            </a:r>
            <a:endParaRPr lang="en-GB"/>
          </a:p>
        </p:txBody>
      </p:sp>
      <p:sp>
        <p:nvSpPr>
          <p:cNvPr id="4" name="Content Placeholder 2">
            <a:extLst>
              <a:ext uri="{FF2B5EF4-FFF2-40B4-BE49-F238E27FC236}">
                <a16:creationId xmlns:a16="http://schemas.microsoft.com/office/drawing/2014/main" id="{155727A0-6CA4-4DAF-EBA2-0DB682041A9D}"/>
              </a:ext>
            </a:extLst>
          </p:cNvPr>
          <p:cNvSpPr txBox="1">
            <a:spLocks/>
          </p:cNvSpPr>
          <p:nvPr/>
        </p:nvSpPr>
        <p:spPr>
          <a:xfrm>
            <a:off x="963843" y="4692976"/>
            <a:ext cx="10515600" cy="556099"/>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ages = [43, 43, 12, 11]</a:t>
            </a:r>
          </a:p>
        </p:txBody>
      </p:sp>
    </p:spTree>
    <p:extLst>
      <p:ext uri="{BB962C8B-B14F-4D97-AF65-F5344CB8AC3E}">
        <p14:creationId xmlns:p14="http://schemas.microsoft.com/office/powerpoint/2010/main" val="34874686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989F0-1C51-E10F-DEEA-C21E4C52734F}"/>
              </a:ext>
            </a:extLst>
          </p:cNvPr>
          <p:cNvSpPr>
            <a:spLocks noGrp="1"/>
          </p:cNvSpPr>
          <p:nvPr>
            <p:ph type="title"/>
          </p:nvPr>
        </p:nvSpPr>
        <p:spPr/>
        <p:txBody>
          <a:bodyPr/>
          <a:lstStyle/>
          <a:p>
            <a:r>
              <a:rPr lang="nb-NO"/>
              <a:t>For-loops</a:t>
            </a:r>
            <a:endParaRPr lang="en-GB"/>
          </a:p>
        </p:txBody>
      </p:sp>
      <p:sp>
        <p:nvSpPr>
          <p:cNvPr id="4" name="Content Placeholder 2">
            <a:extLst>
              <a:ext uri="{FF2B5EF4-FFF2-40B4-BE49-F238E27FC236}">
                <a16:creationId xmlns:a16="http://schemas.microsoft.com/office/drawing/2014/main" id="{155727A0-6CA4-4DAF-EBA2-0DB682041A9D}"/>
              </a:ext>
            </a:extLst>
          </p:cNvPr>
          <p:cNvSpPr txBox="1">
            <a:spLocks/>
          </p:cNvSpPr>
          <p:nvPr/>
        </p:nvSpPr>
        <p:spPr>
          <a:xfrm>
            <a:off x="963843" y="1553652"/>
            <a:ext cx="10515600" cy="2487856"/>
          </a:xfrm>
          <a:prstGeom prst="rect">
            <a:avLst/>
          </a:prstGeom>
          <a:solidFill>
            <a:schemeClr val="bg2"/>
          </a:solidFill>
          <a:ln>
            <a:no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ages = [44, 44, 13, 12]</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print(ages[0] * 12)</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print(ages[1] * 12)</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print(ages[2] * 12)</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print(ages[3] * 12)</a:t>
            </a:r>
          </a:p>
          <a:p>
            <a:endParaRPr lang="en-GB">
              <a:latin typeface="Consolas" panose="020B0609020204030204" pitchFamily="49" charset="0"/>
              <a:cs typeface="Courier New" panose="02070309020205020404" pitchFamily="49" charset="0"/>
            </a:endParaRPr>
          </a:p>
        </p:txBody>
      </p:sp>
      <p:sp>
        <p:nvSpPr>
          <p:cNvPr id="5" name="Content Placeholder 2">
            <a:extLst>
              <a:ext uri="{FF2B5EF4-FFF2-40B4-BE49-F238E27FC236}">
                <a16:creationId xmlns:a16="http://schemas.microsoft.com/office/drawing/2014/main" id="{606070C3-EC19-2963-2919-D41F87963C0E}"/>
              </a:ext>
            </a:extLst>
          </p:cNvPr>
          <p:cNvSpPr txBox="1">
            <a:spLocks/>
          </p:cNvSpPr>
          <p:nvPr/>
        </p:nvSpPr>
        <p:spPr>
          <a:xfrm>
            <a:off x="963843" y="4308325"/>
            <a:ext cx="10515600" cy="1450380"/>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Without a for-loop, we can do this but it is a bit annoying even with only four family members. Imagine if you wanted to do the same thing for every UiT student or staff member.</a:t>
            </a:r>
          </a:p>
        </p:txBody>
      </p:sp>
    </p:spTree>
    <p:extLst>
      <p:ext uri="{BB962C8B-B14F-4D97-AF65-F5344CB8AC3E}">
        <p14:creationId xmlns:p14="http://schemas.microsoft.com/office/powerpoint/2010/main" val="490723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989F0-1C51-E10F-DEEA-C21E4C52734F}"/>
              </a:ext>
            </a:extLst>
          </p:cNvPr>
          <p:cNvSpPr>
            <a:spLocks noGrp="1"/>
          </p:cNvSpPr>
          <p:nvPr>
            <p:ph type="title"/>
          </p:nvPr>
        </p:nvSpPr>
        <p:spPr/>
        <p:txBody>
          <a:bodyPr/>
          <a:lstStyle/>
          <a:p>
            <a:r>
              <a:rPr lang="nb-NO"/>
              <a:t>For-loops: basic syntax</a:t>
            </a:r>
            <a:endParaRPr lang="en-GB"/>
          </a:p>
        </p:txBody>
      </p:sp>
      <p:sp>
        <p:nvSpPr>
          <p:cNvPr id="4" name="Content Placeholder 2">
            <a:extLst>
              <a:ext uri="{FF2B5EF4-FFF2-40B4-BE49-F238E27FC236}">
                <a16:creationId xmlns:a16="http://schemas.microsoft.com/office/drawing/2014/main" id="{155727A0-6CA4-4DAF-EBA2-0DB682041A9D}"/>
              </a:ext>
            </a:extLst>
          </p:cNvPr>
          <p:cNvSpPr txBox="1">
            <a:spLocks/>
          </p:cNvSpPr>
          <p:nvPr/>
        </p:nvSpPr>
        <p:spPr>
          <a:xfrm>
            <a:off x="963843" y="1553652"/>
            <a:ext cx="10515600" cy="1238409"/>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for </a:t>
            </a:r>
            <a:r>
              <a:rPr lang="en-US" i="1">
                <a:latin typeface="Consolas" panose="020B0609020204030204" pitchFamily="49" charset="0"/>
                <a:cs typeface="Courier New" panose="02070309020205020404" pitchFamily="49" charset="0"/>
              </a:rPr>
              <a:t>item</a:t>
            </a:r>
            <a:r>
              <a:rPr lang="en-US">
                <a:latin typeface="Consolas" panose="020B0609020204030204" pitchFamily="49" charset="0"/>
                <a:cs typeface="Courier New" panose="02070309020205020404" pitchFamily="49" charset="0"/>
              </a:rPr>
              <a:t> in </a:t>
            </a:r>
            <a:r>
              <a:rPr lang="en-US" i="1">
                <a:latin typeface="Consolas" panose="020B0609020204030204" pitchFamily="49" charset="0"/>
                <a:cs typeface="Courier New" panose="02070309020205020404" pitchFamily="49" charset="0"/>
              </a:rPr>
              <a:t>list</a:t>
            </a:r>
            <a:r>
              <a:rPr lang="en-US">
                <a:latin typeface="Consolas" panose="020B0609020204030204" pitchFamily="49" charset="0"/>
                <a:cs typeface="Courier New" panose="02070309020205020404" pitchFamily="49" charset="0"/>
              </a:rPr>
              <a:t>:</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	</a:t>
            </a:r>
            <a:r>
              <a:rPr lang="en-US" i="1">
                <a:latin typeface="Consolas" panose="020B0609020204030204" pitchFamily="49" charset="0"/>
                <a:cs typeface="Courier New" panose="02070309020205020404" pitchFamily="49" charset="0"/>
              </a:rPr>
              <a:t>do something</a:t>
            </a:r>
          </a:p>
          <a:p>
            <a:endParaRPr lang="en-GB">
              <a:latin typeface="Consolas" panose="020B0609020204030204" pitchFamily="49" charset="0"/>
              <a:cs typeface="Courier New" panose="02070309020205020404" pitchFamily="49" charset="0"/>
            </a:endParaRPr>
          </a:p>
        </p:txBody>
      </p:sp>
      <p:sp>
        <p:nvSpPr>
          <p:cNvPr id="5" name="Content Placeholder 2">
            <a:extLst>
              <a:ext uri="{FF2B5EF4-FFF2-40B4-BE49-F238E27FC236}">
                <a16:creationId xmlns:a16="http://schemas.microsoft.com/office/drawing/2014/main" id="{606070C3-EC19-2963-2919-D41F87963C0E}"/>
              </a:ext>
            </a:extLst>
          </p:cNvPr>
          <p:cNvSpPr txBox="1">
            <a:spLocks/>
          </p:cNvSpPr>
          <p:nvPr/>
        </p:nvSpPr>
        <p:spPr>
          <a:xfrm>
            <a:off x="963843" y="3135832"/>
            <a:ext cx="10515600" cy="3076504"/>
          </a:xfrm>
          <a:prstGeom prst="rect">
            <a:avLst/>
          </a:prstGeom>
          <a:solidFill>
            <a:schemeClr val="accent1">
              <a:lumMod val="20000"/>
              <a:lumOff val="80000"/>
            </a:schemeClr>
          </a:solidFill>
          <a:ln>
            <a:no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i="1">
                <a:cs typeface="Courier New" panose="02070309020205020404" pitchFamily="49" charset="0"/>
              </a:rPr>
              <a:t>Note 1:</a:t>
            </a:r>
            <a:r>
              <a:rPr lang="en-US">
                <a:cs typeface="Courier New" panose="02070309020205020404" pitchFamily="49" charset="0"/>
              </a:rPr>
              <a:t> the </a:t>
            </a:r>
            <a:r>
              <a:rPr lang="en-US" i="1">
                <a:latin typeface="Consolas" panose="020B0609020204030204" pitchFamily="49" charset="0"/>
                <a:cs typeface="Courier New" panose="02070309020205020404" pitchFamily="49" charset="0"/>
              </a:rPr>
              <a:t>item</a:t>
            </a:r>
            <a:r>
              <a:rPr lang="en-US">
                <a:cs typeface="Courier New" panose="02070309020205020404" pitchFamily="49" charset="0"/>
              </a:rPr>
              <a:t> is a new variable you are making that exists while the loop is running and afterwards. Make sure you don’t use the same name as another variable in your script and call it something readable.</a:t>
            </a:r>
          </a:p>
          <a:p>
            <a:r>
              <a:rPr lang="en-US" i="1">
                <a:cs typeface="Courier New" panose="02070309020205020404" pitchFamily="49" charset="0"/>
              </a:rPr>
              <a:t>Note 2:</a:t>
            </a:r>
            <a:r>
              <a:rPr lang="en-US">
                <a:cs typeface="Courier New" panose="02070309020205020404" pitchFamily="49" charset="0"/>
              </a:rPr>
              <a:t> you can use for-loops on some other types of variables but not all types; we can discuss this later</a:t>
            </a:r>
          </a:p>
          <a:p>
            <a:r>
              <a:rPr lang="en-US" i="1">
                <a:cs typeface="Courier New" panose="02070309020205020404" pitchFamily="49" charset="0"/>
              </a:rPr>
              <a:t>Note 3:</a:t>
            </a:r>
            <a:r>
              <a:rPr lang="en-US">
                <a:cs typeface="Courier New" panose="02070309020205020404" pitchFamily="49" charset="0"/>
              </a:rPr>
              <a:t> the indenting is very important and Python uses it to tell it when the for-loop ends</a:t>
            </a:r>
          </a:p>
        </p:txBody>
      </p:sp>
      <p:sp>
        <p:nvSpPr>
          <p:cNvPr id="6" name="TextBox 5">
            <a:extLst>
              <a:ext uri="{FF2B5EF4-FFF2-40B4-BE49-F238E27FC236}">
                <a16:creationId xmlns:a16="http://schemas.microsoft.com/office/drawing/2014/main" id="{79744521-05A4-84A8-E5C0-F33E6BB1A0B5}"/>
              </a:ext>
            </a:extLst>
          </p:cNvPr>
          <p:cNvSpPr txBox="1"/>
          <p:nvPr/>
        </p:nvSpPr>
        <p:spPr>
          <a:xfrm>
            <a:off x="7200907" y="6371441"/>
            <a:ext cx="4934386" cy="369332"/>
          </a:xfrm>
          <a:prstGeom prst="rect">
            <a:avLst/>
          </a:prstGeom>
          <a:noFill/>
        </p:spPr>
        <p:txBody>
          <a:bodyPr wrap="square">
            <a:spAutoFit/>
          </a:bodyPr>
          <a:lstStyle/>
          <a:p>
            <a:r>
              <a:rPr lang="en-GB"/>
              <a:t>https://www.youtube.com/watch?v=SsoOG6ZeyUI</a:t>
            </a:r>
          </a:p>
        </p:txBody>
      </p:sp>
    </p:spTree>
    <p:extLst>
      <p:ext uri="{BB962C8B-B14F-4D97-AF65-F5344CB8AC3E}">
        <p14:creationId xmlns:p14="http://schemas.microsoft.com/office/powerpoint/2010/main" val="1140693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989F0-1C51-E10F-DEEA-C21E4C52734F}"/>
              </a:ext>
            </a:extLst>
          </p:cNvPr>
          <p:cNvSpPr>
            <a:spLocks noGrp="1"/>
          </p:cNvSpPr>
          <p:nvPr>
            <p:ph type="title"/>
          </p:nvPr>
        </p:nvSpPr>
        <p:spPr/>
        <p:txBody>
          <a:bodyPr/>
          <a:lstStyle/>
          <a:p>
            <a:r>
              <a:rPr lang="nb-NO"/>
              <a:t>For-loops</a:t>
            </a:r>
            <a:endParaRPr lang="en-GB"/>
          </a:p>
        </p:txBody>
      </p:sp>
      <p:sp>
        <p:nvSpPr>
          <p:cNvPr id="4" name="Content Placeholder 2">
            <a:extLst>
              <a:ext uri="{FF2B5EF4-FFF2-40B4-BE49-F238E27FC236}">
                <a16:creationId xmlns:a16="http://schemas.microsoft.com/office/drawing/2014/main" id="{155727A0-6CA4-4DAF-EBA2-0DB682041A9D}"/>
              </a:ext>
            </a:extLst>
          </p:cNvPr>
          <p:cNvSpPr txBox="1">
            <a:spLocks/>
          </p:cNvSpPr>
          <p:nvPr/>
        </p:nvSpPr>
        <p:spPr>
          <a:xfrm>
            <a:off x="963843" y="1553652"/>
            <a:ext cx="10515600" cy="1740980"/>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atin typeface="Consolas" panose="020B0609020204030204" pitchFamily="49" charset="0"/>
                <a:cs typeface="Courier New" panose="02070309020205020404" pitchFamily="49" charset="0"/>
              </a:rPr>
              <a:t>ages = [44, 44, 13, 12]</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for current_age in ages:</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	print(current_age * 12)</a:t>
            </a:r>
          </a:p>
          <a:p>
            <a:endParaRPr lang="en-GB">
              <a:latin typeface="Consolas" panose="020B0609020204030204" pitchFamily="49" charset="0"/>
              <a:cs typeface="Courier New" panose="02070309020205020404" pitchFamily="49" charset="0"/>
            </a:endParaRPr>
          </a:p>
        </p:txBody>
      </p:sp>
      <p:sp>
        <p:nvSpPr>
          <p:cNvPr id="5" name="Content Placeholder 2">
            <a:extLst>
              <a:ext uri="{FF2B5EF4-FFF2-40B4-BE49-F238E27FC236}">
                <a16:creationId xmlns:a16="http://schemas.microsoft.com/office/drawing/2014/main" id="{606070C3-EC19-2963-2919-D41F87963C0E}"/>
              </a:ext>
            </a:extLst>
          </p:cNvPr>
          <p:cNvSpPr txBox="1">
            <a:spLocks/>
          </p:cNvSpPr>
          <p:nvPr/>
        </p:nvSpPr>
        <p:spPr>
          <a:xfrm>
            <a:off x="963843" y="3387112"/>
            <a:ext cx="10515600" cy="570629"/>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What if you want to store age in months in a new list?</a:t>
            </a:r>
          </a:p>
        </p:txBody>
      </p:sp>
      <p:sp>
        <p:nvSpPr>
          <p:cNvPr id="3" name="Content Placeholder 2">
            <a:extLst>
              <a:ext uri="{FF2B5EF4-FFF2-40B4-BE49-F238E27FC236}">
                <a16:creationId xmlns:a16="http://schemas.microsoft.com/office/drawing/2014/main" id="{75AEA27D-0530-B286-AACB-ED0779AE6D7A}"/>
              </a:ext>
            </a:extLst>
          </p:cNvPr>
          <p:cNvSpPr txBox="1">
            <a:spLocks/>
          </p:cNvSpPr>
          <p:nvPr/>
        </p:nvSpPr>
        <p:spPr>
          <a:xfrm>
            <a:off x="963843" y="4065940"/>
            <a:ext cx="10515600" cy="2711788"/>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atin typeface="Consolas" panose="020B0609020204030204" pitchFamily="49" charset="0"/>
                <a:cs typeface="Courier New" panose="02070309020205020404" pitchFamily="49" charset="0"/>
              </a:rPr>
              <a:t>ages = [43, 43, 12, 11]</a:t>
            </a:r>
          </a:p>
          <a:p>
            <a:pPr marL="0" indent="0">
              <a:buNone/>
            </a:pPr>
            <a:r>
              <a:rPr lang="en-US">
                <a:latin typeface="Consolas" panose="020B0609020204030204" pitchFamily="49" charset="0"/>
                <a:cs typeface="Courier New" panose="02070309020205020404" pitchFamily="49" charset="0"/>
              </a:rPr>
              <a:t>ages_in_months = []</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for current_age in ages:</a:t>
            </a:r>
          </a:p>
          <a:p>
            <a:pPr marL="0" indent="0">
              <a:buNone/>
            </a:pPr>
            <a:r>
              <a:rPr lang="en-US">
                <a:latin typeface="Consolas" panose="020B0609020204030204" pitchFamily="49" charset="0"/>
                <a:cs typeface="Courier New" panose="02070309020205020404" pitchFamily="49" charset="0"/>
              </a:rPr>
              <a:t>	ages_in_months.append(current_age * 12)</a:t>
            </a:r>
          </a:p>
          <a:p>
            <a:pPr marL="0" indent="0">
              <a:buNone/>
            </a:pPr>
            <a:r>
              <a:rPr lang="en-US">
                <a:latin typeface="Consolas" panose="020B0609020204030204" pitchFamily="49" charset="0"/>
                <a:cs typeface="Courier New" panose="02070309020205020404" pitchFamily="49" charset="0"/>
              </a:rPr>
              <a:t>print(ages_in_months)</a:t>
            </a:r>
          </a:p>
          <a:p>
            <a:endParaRPr lang="en-GB">
              <a:latin typeface="Consolas" panose="020B0609020204030204" pitchFamily="49" charset="0"/>
              <a:cs typeface="Courier New" panose="02070309020205020404" pitchFamily="49" charset="0"/>
            </a:endParaRPr>
          </a:p>
        </p:txBody>
      </p:sp>
    </p:spTree>
    <p:extLst>
      <p:ext uri="{BB962C8B-B14F-4D97-AF65-F5344CB8AC3E}">
        <p14:creationId xmlns:p14="http://schemas.microsoft.com/office/powerpoint/2010/main" val="2694386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989F0-1C51-E10F-DEEA-C21E4C52734F}"/>
              </a:ext>
            </a:extLst>
          </p:cNvPr>
          <p:cNvSpPr>
            <a:spLocks noGrp="1"/>
          </p:cNvSpPr>
          <p:nvPr>
            <p:ph type="title"/>
          </p:nvPr>
        </p:nvSpPr>
        <p:spPr/>
        <p:txBody>
          <a:bodyPr/>
          <a:lstStyle/>
          <a:p>
            <a:r>
              <a:rPr lang="nb-NO"/>
              <a:t>For-loops</a:t>
            </a:r>
            <a:endParaRPr lang="en-GB"/>
          </a:p>
        </p:txBody>
      </p:sp>
      <p:sp>
        <p:nvSpPr>
          <p:cNvPr id="4" name="Content Placeholder 2">
            <a:extLst>
              <a:ext uri="{FF2B5EF4-FFF2-40B4-BE49-F238E27FC236}">
                <a16:creationId xmlns:a16="http://schemas.microsoft.com/office/drawing/2014/main" id="{155727A0-6CA4-4DAF-EBA2-0DB682041A9D}"/>
              </a:ext>
            </a:extLst>
          </p:cNvPr>
          <p:cNvSpPr txBox="1">
            <a:spLocks/>
          </p:cNvSpPr>
          <p:nvPr/>
        </p:nvSpPr>
        <p:spPr>
          <a:xfrm>
            <a:off x="963843" y="1553652"/>
            <a:ext cx="10515600" cy="582275"/>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weights_in_kg = [76, 55, 89, 115, 67]</a:t>
            </a:r>
            <a:endParaRPr lang="en-US" i="1">
              <a:latin typeface="Consolas" panose="020B0609020204030204" pitchFamily="49" charset="0"/>
              <a:cs typeface="Courier New" panose="02070309020205020404" pitchFamily="49" charset="0"/>
            </a:endParaRPr>
          </a:p>
          <a:p>
            <a:endParaRPr lang="en-GB">
              <a:latin typeface="Consolas" panose="020B0609020204030204" pitchFamily="49" charset="0"/>
              <a:cs typeface="Courier New" panose="02070309020205020404" pitchFamily="49" charset="0"/>
            </a:endParaRPr>
          </a:p>
        </p:txBody>
      </p:sp>
      <p:sp>
        <p:nvSpPr>
          <p:cNvPr id="5" name="Content Placeholder 2">
            <a:extLst>
              <a:ext uri="{FF2B5EF4-FFF2-40B4-BE49-F238E27FC236}">
                <a16:creationId xmlns:a16="http://schemas.microsoft.com/office/drawing/2014/main" id="{606070C3-EC19-2963-2919-D41F87963C0E}"/>
              </a:ext>
            </a:extLst>
          </p:cNvPr>
          <p:cNvSpPr txBox="1">
            <a:spLocks/>
          </p:cNvSpPr>
          <p:nvPr/>
        </p:nvSpPr>
        <p:spPr>
          <a:xfrm>
            <a:off x="963843" y="2422886"/>
            <a:ext cx="10515600" cy="912658"/>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Write a for-loop that converts the list of weights_in_kg above into weights in pounds (lbs). Hint: 1 kg = 2.2 lbs </a:t>
            </a:r>
          </a:p>
        </p:txBody>
      </p:sp>
      <p:sp>
        <p:nvSpPr>
          <p:cNvPr id="3" name="Content Placeholder 2">
            <a:extLst>
              <a:ext uri="{FF2B5EF4-FFF2-40B4-BE49-F238E27FC236}">
                <a16:creationId xmlns:a16="http://schemas.microsoft.com/office/drawing/2014/main" id="{C8D9875E-E06B-A0ED-ADBF-A01595A79203}"/>
              </a:ext>
            </a:extLst>
          </p:cNvPr>
          <p:cNvSpPr txBox="1">
            <a:spLocks/>
          </p:cNvSpPr>
          <p:nvPr/>
        </p:nvSpPr>
        <p:spPr>
          <a:xfrm>
            <a:off x="963843" y="3622501"/>
            <a:ext cx="10515600" cy="2547953"/>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If you finish early, investigate the following…</a:t>
            </a:r>
          </a:p>
          <a:p>
            <a:pPr lvl="1"/>
            <a:r>
              <a:rPr lang="en-US">
                <a:cs typeface="Courier New" panose="02070309020205020404" pitchFamily="49" charset="0"/>
              </a:rPr>
              <a:t>What data types can you use a for-loop with?</a:t>
            </a:r>
          </a:p>
          <a:p>
            <a:pPr lvl="1"/>
            <a:r>
              <a:rPr lang="en-US">
                <a:cs typeface="Courier New" panose="02070309020205020404" pitchFamily="49" charset="0"/>
              </a:rPr>
              <a:t>What does the function </a:t>
            </a:r>
            <a:r>
              <a:rPr lang="en-US">
                <a:latin typeface="Consolas" panose="020B0609020204030204" pitchFamily="49" charset="0"/>
                <a:cs typeface="Courier New" panose="02070309020205020404" pitchFamily="49" charset="0"/>
              </a:rPr>
              <a:t>enumerate</a:t>
            </a:r>
            <a:r>
              <a:rPr lang="en-US">
                <a:cs typeface="Courier New" panose="02070309020205020404" pitchFamily="49" charset="0"/>
              </a:rPr>
              <a:t> do and how would you use it in a for-loop</a:t>
            </a:r>
          </a:p>
          <a:p>
            <a:pPr lvl="1"/>
            <a:r>
              <a:rPr lang="en-US">
                <a:cs typeface="Courier New" panose="02070309020205020404" pitchFamily="49" charset="0"/>
              </a:rPr>
              <a:t>What does the function </a:t>
            </a:r>
            <a:r>
              <a:rPr lang="en-US">
                <a:latin typeface="Consolas" panose="020B0609020204030204" pitchFamily="49" charset="0"/>
                <a:cs typeface="Courier New" panose="02070309020205020404" pitchFamily="49" charset="0"/>
              </a:rPr>
              <a:t>zip</a:t>
            </a:r>
            <a:r>
              <a:rPr lang="en-US">
                <a:cs typeface="Courier New" panose="02070309020205020404" pitchFamily="49" charset="0"/>
              </a:rPr>
              <a:t> do and how would you use it?</a:t>
            </a:r>
          </a:p>
          <a:p>
            <a:pPr lvl="1"/>
            <a:r>
              <a:rPr lang="en-US">
                <a:cs typeface="Courier New" panose="02070309020205020404" pitchFamily="49" charset="0"/>
              </a:rPr>
              <a:t>Write a for-loop that calculates the mean of the data.</a:t>
            </a:r>
          </a:p>
        </p:txBody>
      </p:sp>
    </p:spTree>
    <p:extLst>
      <p:ext uri="{BB962C8B-B14F-4D97-AF65-F5344CB8AC3E}">
        <p14:creationId xmlns:p14="http://schemas.microsoft.com/office/powerpoint/2010/main" val="2012917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Conditional statements (</a:t>
            </a:r>
            <a:r>
              <a:rPr lang="en-US" i="1"/>
              <a:t>if-else</a:t>
            </a:r>
            <a:r>
              <a:rPr lang="en-US"/>
              <a:t>)</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2495721"/>
            <a:ext cx="10515600" cy="1154902"/>
          </a:xfrm>
          <a:solidFill>
            <a:schemeClr val="bg2"/>
          </a:solidFill>
          <a:ln>
            <a:noFill/>
          </a:ln>
        </p:spPr>
        <p:txBody>
          <a:bodyPr/>
          <a:lstStyle/>
          <a:p>
            <a:pPr marL="0" indent="0">
              <a:buNone/>
            </a:pPr>
            <a:r>
              <a:rPr lang="en-US">
                <a:latin typeface="Consolas" panose="020B0609020204030204" pitchFamily="49" charset="0"/>
                <a:cs typeface="Courier New" panose="02070309020205020404" pitchFamily="49" charset="0"/>
              </a:rPr>
              <a:t>if </a:t>
            </a:r>
            <a:r>
              <a:rPr lang="en-US" i="1">
                <a:latin typeface="Consolas" panose="020B0609020204030204" pitchFamily="49" charset="0"/>
                <a:cs typeface="Courier New" panose="02070309020205020404" pitchFamily="49" charset="0"/>
              </a:rPr>
              <a:t>something_is_True</a:t>
            </a:r>
            <a:r>
              <a:rPr lang="en-US">
                <a:latin typeface="Consolas" panose="020B0609020204030204" pitchFamily="49" charset="0"/>
                <a:cs typeface="Courier New" panose="02070309020205020404" pitchFamily="49" charset="0"/>
              </a:rPr>
              <a:t>:</a:t>
            </a:r>
          </a:p>
          <a:p>
            <a:pPr marL="0" indent="0">
              <a:buNone/>
            </a:pPr>
            <a:r>
              <a:rPr lang="en-US">
                <a:latin typeface="Consolas" panose="020B0609020204030204" pitchFamily="49" charset="0"/>
                <a:cs typeface="Courier New" panose="02070309020205020404" pitchFamily="49" charset="0"/>
              </a:rPr>
              <a:t>	</a:t>
            </a:r>
            <a:r>
              <a:rPr lang="en-US" i="1">
                <a:latin typeface="Consolas" panose="020B0609020204030204" pitchFamily="49" charset="0"/>
                <a:cs typeface="Courier New" panose="02070309020205020404" pitchFamily="49" charset="0"/>
              </a:rPr>
              <a:t>do_something</a:t>
            </a:r>
          </a:p>
          <a:p>
            <a:endParaRPr lang="en-GB">
              <a:latin typeface="Consolas" panose="020B0609020204030204" pitchFamily="49" charset="0"/>
              <a:cs typeface="Courier New" panose="02070309020205020404" pitchFamily="49" charset="0"/>
            </a:endParaRPr>
          </a:p>
        </p:txBody>
      </p:sp>
      <p:sp>
        <p:nvSpPr>
          <p:cNvPr id="5" name="Content Placeholder 2">
            <a:extLst>
              <a:ext uri="{FF2B5EF4-FFF2-40B4-BE49-F238E27FC236}">
                <a16:creationId xmlns:a16="http://schemas.microsoft.com/office/drawing/2014/main" id="{BB96F6C7-AE1D-11C4-9ED8-52E1FFC23933}"/>
              </a:ext>
            </a:extLst>
          </p:cNvPr>
          <p:cNvSpPr txBox="1">
            <a:spLocks/>
          </p:cNvSpPr>
          <p:nvPr/>
        </p:nvSpPr>
        <p:spPr>
          <a:xfrm>
            <a:off x="838200" y="1562390"/>
            <a:ext cx="10515600" cy="580518"/>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Conditional statements are a fundamental concept in programming</a:t>
            </a:r>
            <a:endParaRPr lang="en-GB">
              <a:cs typeface="Courier New" panose="02070309020205020404" pitchFamily="49" charset="0"/>
            </a:endParaRPr>
          </a:p>
        </p:txBody>
      </p:sp>
      <p:sp>
        <p:nvSpPr>
          <p:cNvPr id="6" name="Content Placeholder 2">
            <a:extLst>
              <a:ext uri="{FF2B5EF4-FFF2-40B4-BE49-F238E27FC236}">
                <a16:creationId xmlns:a16="http://schemas.microsoft.com/office/drawing/2014/main" id="{F1669B2A-16A1-B64A-732E-8EB8413BCD9C}"/>
              </a:ext>
            </a:extLst>
          </p:cNvPr>
          <p:cNvSpPr txBox="1">
            <a:spLocks/>
          </p:cNvSpPr>
          <p:nvPr/>
        </p:nvSpPr>
        <p:spPr>
          <a:xfrm>
            <a:off x="838200" y="4039981"/>
            <a:ext cx="10515600" cy="1537162"/>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Note 1: The part </a:t>
            </a:r>
            <a:r>
              <a:rPr lang="en-US" i="1">
                <a:cs typeface="Courier New" panose="02070309020205020404" pitchFamily="49" charset="0"/>
              </a:rPr>
              <a:t>something_is_True </a:t>
            </a:r>
            <a:r>
              <a:rPr lang="en-US">
                <a:cs typeface="Courier New" panose="02070309020205020404" pitchFamily="49" charset="0"/>
              </a:rPr>
              <a:t>above can be any statement that produces a Boolean value</a:t>
            </a:r>
          </a:p>
          <a:p>
            <a:r>
              <a:rPr lang="en-US">
                <a:cs typeface="Courier New" panose="02070309020205020404" pitchFamily="49" charset="0"/>
              </a:rPr>
              <a:t>Note 2: Just like with a for-loop, the indenting is very important here</a:t>
            </a:r>
            <a:endParaRPr lang="en-GB">
              <a:cs typeface="Courier New" panose="02070309020205020404" pitchFamily="49" charset="0"/>
            </a:endParaRPr>
          </a:p>
        </p:txBody>
      </p:sp>
    </p:spTree>
    <p:extLst>
      <p:ext uri="{BB962C8B-B14F-4D97-AF65-F5344CB8AC3E}">
        <p14:creationId xmlns:p14="http://schemas.microsoft.com/office/powerpoint/2010/main" val="29098951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Conditional statements (</a:t>
            </a:r>
            <a:r>
              <a:rPr lang="en-US" i="1"/>
              <a:t>if-else</a:t>
            </a:r>
            <a:r>
              <a:rPr lang="en-US"/>
              <a:t>)</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1623203"/>
            <a:ext cx="10515600" cy="1154902"/>
          </a:xfrm>
          <a:solidFill>
            <a:schemeClr val="bg2"/>
          </a:solidFill>
          <a:ln>
            <a:noFill/>
          </a:ln>
        </p:spPr>
        <p:txBody>
          <a:bodyPr>
            <a:normAutofit/>
          </a:bodyPr>
          <a:lstStyle/>
          <a:p>
            <a:pPr marL="0" indent="0">
              <a:buNone/>
            </a:pPr>
            <a:r>
              <a:rPr lang="en-US">
                <a:latin typeface="Consolas" panose="020B0609020204030204" pitchFamily="49" charset="0"/>
                <a:cs typeface="Courier New" panose="02070309020205020404" pitchFamily="49" charset="0"/>
              </a:rPr>
              <a:t>name = “Paul”</a:t>
            </a:r>
          </a:p>
          <a:p>
            <a:pPr marL="0" indent="0">
              <a:buNone/>
            </a:pPr>
            <a:r>
              <a:rPr lang="en-US">
                <a:latin typeface="Consolas" panose="020B0609020204030204" pitchFamily="49" charset="0"/>
                <a:cs typeface="Courier New" panose="02070309020205020404" pitchFamily="49" charset="0"/>
              </a:rPr>
              <a:t>name in [“John”, “Paul”, “George”, “Ringo”]</a:t>
            </a:r>
          </a:p>
          <a:p>
            <a:pPr marL="0" indent="0">
              <a:buNone/>
            </a:pPr>
            <a:endParaRPr lang="en-GB">
              <a:latin typeface="Consolas" panose="020B0609020204030204" pitchFamily="49" charset="0"/>
              <a:cs typeface="Courier New" panose="02070309020205020404" pitchFamily="49" charset="0"/>
            </a:endParaRPr>
          </a:p>
        </p:txBody>
      </p:sp>
      <p:sp>
        <p:nvSpPr>
          <p:cNvPr id="4" name="Content Placeholder 2">
            <a:extLst>
              <a:ext uri="{FF2B5EF4-FFF2-40B4-BE49-F238E27FC236}">
                <a16:creationId xmlns:a16="http://schemas.microsoft.com/office/drawing/2014/main" id="{F9A730D6-21FE-6356-C7BC-8ECE1AB3F2BC}"/>
              </a:ext>
            </a:extLst>
          </p:cNvPr>
          <p:cNvSpPr txBox="1">
            <a:spLocks/>
          </p:cNvSpPr>
          <p:nvPr/>
        </p:nvSpPr>
        <p:spPr>
          <a:xfrm>
            <a:off x="838200" y="2859944"/>
            <a:ext cx="10515600" cy="1154902"/>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a = 6</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a &lt; 10</a:t>
            </a:r>
          </a:p>
          <a:p>
            <a:pPr marL="0" indent="0">
              <a:buFont typeface="Arial" panose="020B0604020202020204" pitchFamily="34" charset="0"/>
              <a:buNone/>
            </a:pPr>
            <a:endParaRPr lang="en-GB">
              <a:latin typeface="Consolas" panose="020B0609020204030204" pitchFamily="49" charset="0"/>
              <a:cs typeface="Courier New" panose="02070309020205020404" pitchFamily="49" charset="0"/>
            </a:endParaRPr>
          </a:p>
        </p:txBody>
      </p:sp>
      <p:sp>
        <p:nvSpPr>
          <p:cNvPr id="7" name="Content Placeholder 2">
            <a:extLst>
              <a:ext uri="{FF2B5EF4-FFF2-40B4-BE49-F238E27FC236}">
                <a16:creationId xmlns:a16="http://schemas.microsoft.com/office/drawing/2014/main" id="{63C5F425-4357-594E-59F4-D3E8B1800EE1}"/>
              </a:ext>
            </a:extLst>
          </p:cNvPr>
          <p:cNvSpPr txBox="1">
            <a:spLocks/>
          </p:cNvSpPr>
          <p:nvPr/>
        </p:nvSpPr>
        <p:spPr>
          <a:xfrm>
            <a:off x="838200" y="4079895"/>
            <a:ext cx="10515600" cy="1154902"/>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cat = “Oliver”</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cat == “Oliver”</a:t>
            </a:r>
          </a:p>
          <a:p>
            <a:pPr marL="0" indent="0">
              <a:buFont typeface="Arial" panose="020B0604020202020204" pitchFamily="34" charset="0"/>
              <a:buNone/>
            </a:pPr>
            <a:endParaRPr lang="en-GB">
              <a:latin typeface="Consolas" panose="020B0609020204030204" pitchFamily="49" charset="0"/>
              <a:cs typeface="Courier New" panose="02070309020205020404" pitchFamily="49" charset="0"/>
            </a:endParaRPr>
          </a:p>
        </p:txBody>
      </p:sp>
      <p:sp>
        <p:nvSpPr>
          <p:cNvPr id="8" name="Content Placeholder 2">
            <a:extLst>
              <a:ext uri="{FF2B5EF4-FFF2-40B4-BE49-F238E27FC236}">
                <a16:creationId xmlns:a16="http://schemas.microsoft.com/office/drawing/2014/main" id="{AE689E88-2C1D-7F40-9DA8-B6D7BBC4D5F7}"/>
              </a:ext>
            </a:extLst>
          </p:cNvPr>
          <p:cNvSpPr txBox="1">
            <a:spLocks/>
          </p:cNvSpPr>
          <p:nvPr/>
        </p:nvSpPr>
        <p:spPr>
          <a:xfrm>
            <a:off x="838200" y="5440271"/>
            <a:ext cx="10515600" cy="1103622"/>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Try changing the code to generate False instead of True</a:t>
            </a:r>
          </a:p>
          <a:p>
            <a:r>
              <a:rPr lang="en-US">
                <a:cs typeface="Courier New" panose="02070309020205020404" pitchFamily="49" charset="0"/>
              </a:rPr>
              <a:t>Try using different operators</a:t>
            </a:r>
            <a:endParaRPr lang="en-GB">
              <a:cs typeface="Courier New" panose="02070309020205020404" pitchFamily="49" charset="0"/>
            </a:endParaRPr>
          </a:p>
        </p:txBody>
      </p:sp>
    </p:spTree>
    <p:extLst>
      <p:ext uri="{BB962C8B-B14F-4D97-AF65-F5344CB8AC3E}">
        <p14:creationId xmlns:p14="http://schemas.microsoft.com/office/powerpoint/2010/main" val="55512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Conditional statements (</a:t>
            </a:r>
            <a:r>
              <a:rPr lang="en-US" i="1"/>
              <a:t>if-else</a:t>
            </a:r>
            <a:r>
              <a:rPr lang="en-US"/>
              <a:t>)</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3053426"/>
            <a:ext cx="10515600" cy="1706333"/>
          </a:xfrm>
          <a:solidFill>
            <a:schemeClr val="bg2"/>
          </a:solidFill>
          <a:ln>
            <a:noFill/>
          </a:ln>
        </p:spPr>
        <p:txBody>
          <a:bodyPr>
            <a:normAutofit/>
          </a:bodyPr>
          <a:lstStyle/>
          <a:p>
            <a:pPr marL="0" indent="0">
              <a:buNone/>
            </a:pPr>
            <a:r>
              <a:rPr lang="en-US">
                <a:latin typeface="Consolas" panose="020B0609020204030204" pitchFamily="49" charset="0"/>
                <a:cs typeface="Courier New" panose="02070309020205020404" pitchFamily="49" charset="0"/>
              </a:rPr>
              <a:t>name = “Paul”</a:t>
            </a:r>
          </a:p>
          <a:p>
            <a:pPr marL="0" indent="0">
              <a:buNone/>
            </a:pPr>
            <a:r>
              <a:rPr lang="en-US">
                <a:latin typeface="Consolas" panose="020B0609020204030204" pitchFamily="49" charset="0"/>
                <a:cs typeface="Courier New" panose="02070309020205020404" pitchFamily="49" charset="0"/>
              </a:rPr>
              <a:t>if name == “Paul”:</a:t>
            </a:r>
          </a:p>
          <a:p>
            <a:pPr marL="0" indent="0">
              <a:buNone/>
            </a:pPr>
            <a:r>
              <a:rPr lang="en-US">
                <a:latin typeface="Consolas" panose="020B0609020204030204" pitchFamily="49" charset="0"/>
                <a:cs typeface="Courier New" panose="02070309020205020404" pitchFamily="49" charset="0"/>
              </a:rPr>
              <a:t>	print(“That is a boring name”)</a:t>
            </a:r>
          </a:p>
          <a:p>
            <a:endParaRPr lang="en-GB">
              <a:latin typeface="Consolas" panose="020B0609020204030204" pitchFamily="49" charset="0"/>
              <a:cs typeface="Courier New" panose="02070309020205020404" pitchFamily="49" charset="0"/>
            </a:endParaRPr>
          </a:p>
        </p:txBody>
      </p:sp>
      <p:sp>
        <p:nvSpPr>
          <p:cNvPr id="4" name="Content Placeholder 2">
            <a:extLst>
              <a:ext uri="{FF2B5EF4-FFF2-40B4-BE49-F238E27FC236}">
                <a16:creationId xmlns:a16="http://schemas.microsoft.com/office/drawing/2014/main" id="{B6BE49F7-EF5F-4ED7-925B-3EA363A1D4CE}"/>
              </a:ext>
            </a:extLst>
          </p:cNvPr>
          <p:cNvSpPr txBox="1">
            <a:spLocks/>
          </p:cNvSpPr>
          <p:nvPr/>
        </p:nvSpPr>
        <p:spPr>
          <a:xfrm>
            <a:off x="838200" y="5282448"/>
            <a:ext cx="10515600" cy="1103622"/>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Try changing the code so that you have a list of boring names that you can check against</a:t>
            </a:r>
            <a:endParaRPr lang="en-GB" i="1">
              <a:cs typeface="Courier New" panose="02070309020205020404" pitchFamily="49" charset="0"/>
            </a:endParaRPr>
          </a:p>
        </p:txBody>
      </p:sp>
      <p:sp>
        <p:nvSpPr>
          <p:cNvPr id="5" name="Content Placeholder 2">
            <a:extLst>
              <a:ext uri="{FF2B5EF4-FFF2-40B4-BE49-F238E27FC236}">
                <a16:creationId xmlns:a16="http://schemas.microsoft.com/office/drawing/2014/main" id="{F265A0BF-7881-B72B-A347-A4157FE72E1A}"/>
              </a:ext>
            </a:extLst>
          </p:cNvPr>
          <p:cNvSpPr txBox="1">
            <a:spLocks/>
          </p:cNvSpPr>
          <p:nvPr/>
        </p:nvSpPr>
        <p:spPr>
          <a:xfrm>
            <a:off x="838200" y="1502567"/>
            <a:ext cx="10515600" cy="1154902"/>
          </a:xfrm>
          <a:prstGeom prst="rect">
            <a:avLst/>
          </a:prstGeom>
          <a:solidFill>
            <a:schemeClr val="bg2"/>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if </a:t>
            </a:r>
            <a:r>
              <a:rPr lang="en-US" i="1">
                <a:latin typeface="Consolas" panose="020B0609020204030204" pitchFamily="49" charset="0"/>
                <a:cs typeface="Courier New" panose="02070309020205020404" pitchFamily="49" charset="0"/>
              </a:rPr>
              <a:t>something_is_True</a:t>
            </a:r>
            <a:r>
              <a:rPr lang="en-US">
                <a:latin typeface="Consolas" panose="020B0609020204030204" pitchFamily="49" charset="0"/>
                <a:cs typeface="Courier New" panose="02070309020205020404" pitchFamily="49" charset="0"/>
              </a:rPr>
              <a:t>:</a:t>
            </a:r>
          </a:p>
          <a:p>
            <a:pPr marL="0" indent="0">
              <a:buFont typeface="Arial" panose="020B0604020202020204" pitchFamily="34" charset="0"/>
              <a:buNone/>
            </a:pPr>
            <a:r>
              <a:rPr lang="en-US">
                <a:latin typeface="Consolas" panose="020B0609020204030204" pitchFamily="49" charset="0"/>
                <a:cs typeface="Courier New" panose="02070309020205020404" pitchFamily="49" charset="0"/>
              </a:rPr>
              <a:t>	</a:t>
            </a:r>
            <a:r>
              <a:rPr lang="en-US" i="1">
                <a:latin typeface="Consolas" panose="020B0609020204030204" pitchFamily="49" charset="0"/>
                <a:cs typeface="Courier New" panose="02070309020205020404" pitchFamily="49" charset="0"/>
              </a:rPr>
              <a:t>do_something</a:t>
            </a:r>
          </a:p>
          <a:p>
            <a:endParaRPr lang="en-GB">
              <a:latin typeface="Consolas" panose="020B0609020204030204" pitchFamily="49" charset="0"/>
              <a:cs typeface="Courier New" panose="02070309020205020404" pitchFamily="49" charset="0"/>
            </a:endParaRPr>
          </a:p>
        </p:txBody>
      </p:sp>
    </p:spTree>
    <p:extLst>
      <p:ext uri="{BB962C8B-B14F-4D97-AF65-F5344CB8AC3E}">
        <p14:creationId xmlns:p14="http://schemas.microsoft.com/office/powerpoint/2010/main" val="2553496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Conditional statements (</a:t>
            </a:r>
            <a:r>
              <a:rPr lang="en-US" i="1"/>
              <a:t>if-else</a:t>
            </a:r>
            <a:r>
              <a:rPr lang="en-US"/>
              <a:t>)</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2572500"/>
            <a:ext cx="10515600" cy="2270889"/>
          </a:xfrm>
          <a:solidFill>
            <a:schemeClr val="bg2"/>
          </a:solidFill>
          <a:ln>
            <a:noFill/>
          </a:ln>
        </p:spPr>
        <p:txBody>
          <a:bodyPr>
            <a:normAutofit/>
          </a:bodyPr>
          <a:lstStyle/>
          <a:p>
            <a:pPr marL="0" indent="0">
              <a:buNone/>
            </a:pPr>
            <a:r>
              <a:rPr lang="en-US">
                <a:latin typeface="Consolas" panose="020B0609020204030204" pitchFamily="49" charset="0"/>
                <a:cs typeface="Courier New" panose="02070309020205020404" pitchFamily="49" charset="0"/>
              </a:rPr>
              <a:t>if </a:t>
            </a:r>
            <a:r>
              <a:rPr lang="en-US" i="1">
                <a:latin typeface="Consolas" panose="020B0609020204030204" pitchFamily="49" charset="0"/>
                <a:cs typeface="Courier New" panose="02070309020205020404" pitchFamily="49" charset="0"/>
              </a:rPr>
              <a:t>something_is_True</a:t>
            </a:r>
            <a:r>
              <a:rPr lang="en-US">
                <a:latin typeface="Consolas" panose="020B0609020204030204" pitchFamily="49" charset="0"/>
                <a:cs typeface="Courier New" panose="02070309020205020404" pitchFamily="49" charset="0"/>
              </a:rPr>
              <a:t>:</a:t>
            </a:r>
          </a:p>
          <a:p>
            <a:pPr marL="0" indent="0">
              <a:buNone/>
            </a:pPr>
            <a:r>
              <a:rPr lang="en-US">
                <a:latin typeface="Consolas" panose="020B0609020204030204" pitchFamily="49" charset="0"/>
                <a:cs typeface="Courier New" panose="02070309020205020404" pitchFamily="49" charset="0"/>
              </a:rPr>
              <a:t>	</a:t>
            </a:r>
            <a:r>
              <a:rPr lang="en-US" i="1">
                <a:latin typeface="Consolas" panose="020B0609020204030204" pitchFamily="49" charset="0"/>
                <a:cs typeface="Courier New" panose="02070309020205020404" pitchFamily="49" charset="0"/>
              </a:rPr>
              <a:t>do_something</a:t>
            </a:r>
          </a:p>
          <a:p>
            <a:pPr marL="0" indent="0">
              <a:buNone/>
            </a:pPr>
            <a:r>
              <a:rPr lang="en-US">
                <a:latin typeface="Consolas" panose="020B0609020204030204" pitchFamily="49" charset="0"/>
                <a:cs typeface="Courier New" panose="02070309020205020404" pitchFamily="49" charset="0"/>
              </a:rPr>
              <a:t>else:</a:t>
            </a:r>
          </a:p>
          <a:p>
            <a:pPr marL="0" indent="0">
              <a:buNone/>
            </a:pPr>
            <a:r>
              <a:rPr lang="en-US">
                <a:latin typeface="Consolas" panose="020B0609020204030204" pitchFamily="49" charset="0"/>
                <a:cs typeface="Courier New" panose="02070309020205020404" pitchFamily="49" charset="0"/>
              </a:rPr>
              <a:t>	</a:t>
            </a:r>
            <a:r>
              <a:rPr lang="en-US" i="1">
                <a:latin typeface="Consolas" panose="020B0609020204030204" pitchFamily="49" charset="0"/>
                <a:cs typeface="Courier New" panose="02070309020205020404" pitchFamily="49" charset="0"/>
              </a:rPr>
              <a:t>do_something_else</a:t>
            </a:r>
          </a:p>
          <a:p>
            <a:endParaRPr lang="en-GB">
              <a:latin typeface="Consolas" panose="020B0609020204030204" pitchFamily="49" charset="0"/>
              <a:cs typeface="Courier New" panose="02070309020205020404" pitchFamily="49" charset="0"/>
            </a:endParaRPr>
          </a:p>
        </p:txBody>
      </p:sp>
      <p:sp>
        <p:nvSpPr>
          <p:cNvPr id="5" name="Content Placeholder 2">
            <a:extLst>
              <a:ext uri="{FF2B5EF4-FFF2-40B4-BE49-F238E27FC236}">
                <a16:creationId xmlns:a16="http://schemas.microsoft.com/office/drawing/2014/main" id="{BB96F6C7-AE1D-11C4-9ED8-52E1FFC23933}"/>
              </a:ext>
            </a:extLst>
          </p:cNvPr>
          <p:cNvSpPr txBox="1">
            <a:spLocks/>
          </p:cNvSpPr>
          <p:nvPr/>
        </p:nvSpPr>
        <p:spPr>
          <a:xfrm>
            <a:off x="838200" y="1562390"/>
            <a:ext cx="10515600" cy="580518"/>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Can also have a section to tell the program to do something </a:t>
            </a:r>
            <a:r>
              <a:rPr lang="en-US" b="1">
                <a:cs typeface="Courier New" panose="02070309020205020404" pitchFamily="49" charset="0"/>
              </a:rPr>
              <a:t>else</a:t>
            </a:r>
            <a:endParaRPr lang="en-GB" b="1">
              <a:cs typeface="Courier New" panose="02070309020205020404" pitchFamily="49" charset="0"/>
            </a:endParaRPr>
          </a:p>
        </p:txBody>
      </p:sp>
    </p:spTree>
    <p:extLst>
      <p:ext uri="{BB962C8B-B14F-4D97-AF65-F5344CB8AC3E}">
        <p14:creationId xmlns:p14="http://schemas.microsoft.com/office/powerpoint/2010/main" val="7837054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Conditional statements (</a:t>
            </a:r>
            <a:r>
              <a:rPr lang="en-US" i="1"/>
              <a:t>if-else</a:t>
            </a:r>
            <a:r>
              <a:rPr lang="en-US"/>
              <a:t>)</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1832604"/>
            <a:ext cx="10515600" cy="3025582"/>
          </a:xfrm>
          <a:solidFill>
            <a:schemeClr val="bg2"/>
          </a:solidFill>
          <a:ln>
            <a:noFill/>
          </a:ln>
        </p:spPr>
        <p:txBody>
          <a:bodyPr>
            <a:normAutofit/>
          </a:bodyPr>
          <a:lstStyle/>
          <a:p>
            <a:pPr marL="0" indent="0">
              <a:buNone/>
            </a:pPr>
            <a:r>
              <a:rPr lang="en-US">
                <a:latin typeface="Consolas" panose="020B0609020204030204" pitchFamily="49" charset="0"/>
                <a:cs typeface="Courier New" panose="02070309020205020404" pitchFamily="49" charset="0"/>
              </a:rPr>
              <a:t>name = “Paul”</a:t>
            </a:r>
          </a:p>
          <a:p>
            <a:pPr marL="0" indent="0">
              <a:buNone/>
            </a:pPr>
            <a:r>
              <a:rPr lang="en-US">
                <a:latin typeface="Consolas" panose="020B0609020204030204" pitchFamily="49" charset="0"/>
                <a:cs typeface="Courier New" panose="02070309020205020404" pitchFamily="49" charset="0"/>
              </a:rPr>
              <a:t>if name == “Paul”:</a:t>
            </a:r>
          </a:p>
          <a:p>
            <a:pPr marL="0" indent="0">
              <a:buNone/>
            </a:pPr>
            <a:r>
              <a:rPr lang="en-US">
                <a:latin typeface="Consolas" panose="020B0609020204030204" pitchFamily="49" charset="0"/>
                <a:cs typeface="Courier New" panose="02070309020205020404" pitchFamily="49" charset="0"/>
              </a:rPr>
              <a:t>	print(name, “is a boring name”)</a:t>
            </a:r>
          </a:p>
          <a:p>
            <a:pPr marL="0" indent="0">
              <a:buNone/>
            </a:pPr>
            <a:r>
              <a:rPr lang="en-US">
                <a:latin typeface="Consolas" panose="020B0609020204030204" pitchFamily="49" charset="0"/>
                <a:cs typeface="Courier New" panose="02070309020205020404" pitchFamily="49" charset="0"/>
              </a:rPr>
              <a:t>else:</a:t>
            </a:r>
          </a:p>
          <a:p>
            <a:pPr marL="0" indent="0">
              <a:buNone/>
            </a:pPr>
            <a:r>
              <a:rPr lang="en-US">
                <a:latin typeface="Consolas" panose="020B0609020204030204" pitchFamily="49" charset="0"/>
                <a:cs typeface="Courier New" panose="02070309020205020404" pitchFamily="49" charset="0"/>
              </a:rPr>
              <a:t>	print(name, “is a bit more exciting than Paul”</a:t>
            </a:r>
          </a:p>
          <a:p>
            <a:pPr marL="0" indent="0">
              <a:buNone/>
            </a:pPr>
            <a:endParaRPr lang="en-US">
              <a:latin typeface="Consolas" panose="020B0609020204030204" pitchFamily="49" charset="0"/>
              <a:cs typeface="Courier New" panose="02070309020205020404" pitchFamily="49" charset="0"/>
            </a:endParaRPr>
          </a:p>
          <a:p>
            <a:endParaRPr lang="en-GB">
              <a:latin typeface="Consolas" panose="020B0609020204030204" pitchFamily="49" charset="0"/>
              <a:cs typeface="Courier New" panose="02070309020205020404" pitchFamily="49" charset="0"/>
            </a:endParaRPr>
          </a:p>
        </p:txBody>
      </p:sp>
      <p:sp>
        <p:nvSpPr>
          <p:cNvPr id="4" name="Content Placeholder 2">
            <a:extLst>
              <a:ext uri="{FF2B5EF4-FFF2-40B4-BE49-F238E27FC236}">
                <a16:creationId xmlns:a16="http://schemas.microsoft.com/office/drawing/2014/main" id="{BCA0193B-85C4-5B4A-A65C-A86327E93478}"/>
              </a:ext>
            </a:extLst>
          </p:cNvPr>
          <p:cNvSpPr txBox="1">
            <a:spLocks/>
          </p:cNvSpPr>
          <p:nvPr/>
        </p:nvSpPr>
        <p:spPr>
          <a:xfrm>
            <a:off x="838200" y="5282448"/>
            <a:ext cx="10515600" cy="636721"/>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Note: Here, I have added the variable, </a:t>
            </a:r>
            <a:r>
              <a:rPr lang="en-US">
                <a:latin typeface="Consolas" panose="020B0609020204030204" pitchFamily="49" charset="0"/>
                <a:cs typeface="Courier New" panose="02070309020205020404" pitchFamily="49" charset="0"/>
              </a:rPr>
              <a:t>name</a:t>
            </a:r>
            <a:r>
              <a:rPr lang="en-US">
                <a:cs typeface="Courier New" panose="02070309020205020404" pitchFamily="49" charset="0"/>
              </a:rPr>
              <a:t>, to my print statement</a:t>
            </a:r>
            <a:endParaRPr lang="en-GB" i="1">
              <a:cs typeface="Courier New" panose="02070309020205020404" pitchFamily="49" charset="0"/>
            </a:endParaRPr>
          </a:p>
        </p:txBody>
      </p:sp>
    </p:spTree>
    <p:extLst>
      <p:ext uri="{BB962C8B-B14F-4D97-AF65-F5344CB8AC3E}">
        <p14:creationId xmlns:p14="http://schemas.microsoft.com/office/powerpoint/2010/main" val="3528201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Conditional statements (</a:t>
            </a:r>
            <a:r>
              <a:rPr lang="en-US" i="1"/>
              <a:t>if-else</a:t>
            </a:r>
            <a:r>
              <a:rPr lang="en-US"/>
              <a:t>)</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2572501"/>
            <a:ext cx="10515600" cy="3276868"/>
          </a:xfrm>
          <a:solidFill>
            <a:schemeClr val="bg2"/>
          </a:solidFill>
          <a:ln>
            <a:noFill/>
          </a:ln>
        </p:spPr>
        <p:txBody>
          <a:bodyPr>
            <a:normAutofit/>
          </a:bodyPr>
          <a:lstStyle/>
          <a:p>
            <a:pPr marL="0" indent="0">
              <a:buNone/>
            </a:pPr>
            <a:r>
              <a:rPr lang="en-US">
                <a:latin typeface="Consolas" panose="020B0609020204030204" pitchFamily="49" charset="0"/>
                <a:cs typeface="Courier New" panose="02070309020205020404" pitchFamily="49" charset="0"/>
              </a:rPr>
              <a:t>if </a:t>
            </a:r>
            <a:r>
              <a:rPr lang="en-US" i="1">
                <a:latin typeface="Consolas" panose="020B0609020204030204" pitchFamily="49" charset="0"/>
                <a:cs typeface="Courier New" panose="02070309020205020404" pitchFamily="49" charset="0"/>
              </a:rPr>
              <a:t>something_is_True</a:t>
            </a:r>
            <a:r>
              <a:rPr lang="en-US">
                <a:latin typeface="Consolas" panose="020B0609020204030204" pitchFamily="49" charset="0"/>
                <a:cs typeface="Courier New" panose="02070309020205020404" pitchFamily="49" charset="0"/>
              </a:rPr>
              <a:t>:</a:t>
            </a:r>
          </a:p>
          <a:p>
            <a:pPr marL="0" indent="0">
              <a:buNone/>
            </a:pPr>
            <a:r>
              <a:rPr lang="en-US">
                <a:latin typeface="Consolas" panose="020B0609020204030204" pitchFamily="49" charset="0"/>
                <a:cs typeface="Courier New" panose="02070309020205020404" pitchFamily="49" charset="0"/>
              </a:rPr>
              <a:t>	</a:t>
            </a:r>
            <a:r>
              <a:rPr lang="en-US" i="1">
                <a:latin typeface="Consolas" panose="020B0609020204030204" pitchFamily="49" charset="0"/>
                <a:cs typeface="Courier New" panose="02070309020205020404" pitchFamily="49" charset="0"/>
              </a:rPr>
              <a:t>do_something</a:t>
            </a:r>
          </a:p>
          <a:p>
            <a:pPr marL="0" indent="0">
              <a:buNone/>
            </a:pPr>
            <a:r>
              <a:rPr lang="en-US">
                <a:latin typeface="Consolas" panose="020B0609020204030204" pitchFamily="49" charset="0"/>
                <a:cs typeface="Courier New" panose="02070309020205020404" pitchFamily="49" charset="0"/>
              </a:rPr>
              <a:t>elif </a:t>
            </a:r>
            <a:r>
              <a:rPr lang="en-US" i="1">
                <a:latin typeface="Consolas" panose="020B0609020204030204" pitchFamily="49" charset="0"/>
                <a:cs typeface="Courier New" panose="02070309020205020404" pitchFamily="49" charset="0"/>
              </a:rPr>
              <a:t>something_different_is_true</a:t>
            </a:r>
            <a:r>
              <a:rPr lang="en-US">
                <a:latin typeface="Consolas" panose="020B0609020204030204" pitchFamily="49" charset="0"/>
                <a:cs typeface="Courier New" panose="02070309020205020404" pitchFamily="49" charset="0"/>
              </a:rPr>
              <a:t>:</a:t>
            </a:r>
          </a:p>
          <a:p>
            <a:pPr marL="0" indent="0">
              <a:buNone/>
            </a:pPr>
            <a:r>
              <a:rPr lang="en-US">
                <a:latin typeface="Consolas" panose="020B0609020204030204" pitchFamily="49" charset="0"/>
                <a:cs typeface="Courier New" panose="02070309020205020404" pitchFamily="49" charset="0"/>
              </a:rPr>
              <a:t>	</a:t>
            </a:r>
            <a:r>
              <a:rPr lang="en-US" i="1">
                <a:latin typeface="Consolas" panose="020B0609020204030204" pitchFamily="49" charset="0"/>
                <a:cs typeface="Courier New" panose="02070309020205020404" pitchFamily="49" charset="0"/>
              </a:rPr>
              <a:t>do_something_different</a:t>
            </a:r>
          </a:p>
          <a:p>
            <a:pPr marL="0" indent="0">
              <a:buNone/>
            </a:pPr>
            <a:r>
              <a:rPr lang="en-US" i="1">
                <a:latin typeface="Consolas" panose="020B0609020204030204" pitchFamily="49" charset="0"/>
                <a:cs typeface="Courier New" panose="02070309020205020404" pitchFamily="49" charset="0"/>
              </a:rPr>
              <a:t>else:</a:t>
            </a:r>
          </a:p>
          <a:p>
            <a:pPr marL="0" indent="0">
              <a:buNone/>
            </a:pPr>
            <a:r>
              <a:rPr lang="en-US" i="1">
                <a:latin typeface="Consolas" panose="020B0609020204030204" pitchFamily="49" charset="0"/>
                <a:cs typeface="Courier New" panose="02070309020205020404" pitchFamily="49" charset="0"/>
              </a:rPr>
              <a:t>	do_something_else_different</a:t>
            </a:r>
          </a:p>
          <a:p>
            <a:endParaRPr lang="en-GB">
              <a:latin typeface="Consolas" panose="020B0609020204030204" pitchFamily="49" charset="0"/>
              <a:cs typeface="Courier New" panose="02070309020205020404" pitchFamily="49" charset="0"/>
            </a:endParaRPr>
          </a:p>
        </p:txBody>
      </p:sp>
      <p:sp>
        <p:nvSpPr>
          <p:cNvPr id="5" name="Content Placeholder 2">
            <a:extLst>
              <a:ext uri="{FF2B5EF4-FFF2-40B4-BE49-F238E27FC236}">
                <a16:creationId xmlns:a16="http://schemas.microsoft.com/office/drawing/2014/main" id="{BB96F6C7-AE1D-11C4-9ED8-52E1FFC23933}"/>
              </a:ext>
            </a:extLst>
          </p:cNvPr>
          <p:cNvSpPr txBox="1">
            <a:spLocks/>
          </p:cNvSpPr>
          <p:nvPr/>
        </p:nvSpPr>
        <p:spPr>
          <a:xfrm>
            <a:off x="838200" y="1562390"/>
            <a:ext cx="10515600" cy="580518"/>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Can include multiple checks using </a:t>
            </a:r>
            <a:r>
              <a:rPr lang="en-US" b="1">
                <a:cs typeface="Courier New" panose="02070309020205020404" pitchFamily="49" charset="0"/>
              </a:rPr>
              <a:t>elif</a:t>
            </a:r>
            <a:endParaRPr lang="en-GB" b="1">
              <a:cs typeface="Courier New" panose="02070309020205020404" pitchFamily="49" charset="0"/>
            </a:endParaRPr>
          </a:p>
        </p:txBody>
      </p:sp>
    </p:spTree>
    <p:extLst>
      <p:ext uri="{BB962C8B-B14F-4D97-AF65-F5344CB8AC3E}">
        <p14:creationId xmlns:p14="http://schemas.microsoft.com/office/powerpoint/2010/main" val="41753806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Conditional statements (</a:t>
            </a:r>
            <a:r>
              <a:rPr lang="en-US" i="1"/>
              <a:t>if-else</a:t>
            </a:r>
            <a:r>
              <a:rPr lang="en-US"/>
              <a:t>)</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1832604"/>
            <a:ext cx="10515600" cy="3793399"/>
          </a:xfrm>
          <a:solidFill>
            <a:schemeClr val="bg2"/>
          </a:solidFill>
          <a:ln>
            <a:noFill/>
          </a:ln>
        </p:spPr>
        <p:txBody>
          <a:bodyPr>
            <a:normAutofit fontScale="92500" lnSpcReduction="10000"/>
          </a:bodyPr>
          <a:lstStyle/>
          <a:p>
            <a:pPr marL="0" indent="0">
              <a:buNone/>
            </a:pPr>
            <a:r>
              <a:rPr lang="en-US">
                <a:latin typeface="Consolas" panose="020B0609020204030204" pitchFamily="49" charset="0"/>
                <a:cs typeface="Courier New" panose="02070309020205020404" pitchFamily="49" charset="0"/>
              </a:rPr>
              <a:t>name = “Paul”</a:t>
            </a:r>
          </a:p>
          <a:p>
            <a:pPr marL="0" indent="0">
              <a:buNone/>
            </a:pPr>
            <a:endParaRPr lang="en-US">
              <a:latin typeface="Consolas" panose="020B0609020204030204" pitchFamily="49" charset="0"/>
              <a:cs typeface="Courier New" panose="02070309020205020404" pitchFamily="49" charset="0"/>
            </a:endParaRPr>
          </a:p>
          <a:p>
            <a:pPr marL="0" indent="0">
              <a:buNone/>
            </a:pPr>
            <a:r>
              <a:rPr lang="en-US">
                <a:latin typeface="Consolas" panose="020B0609020204030204" pitchFamily="49" charset="0"/>
                <a:cs typeface="Courier New" panose="02070309020205020404" pitchFamily="49" charset="0"/>
              </a:rPr>
              <a:t>if name == “Paul”:</a:t>
            </a:r>
          </a:p>
          <a:p>
            <a:pPr marL="0" indent="0">
              <a:buNone/>
            </a:pPr>
            <a:r>
              <a:rPr lang="en-US">
                <a:latin typeface="Consolas" panose="020B0609020204030204" pitchFamily="49" charset="0"/>
                <a:cs typeface="Courier New" panose="02070309020205020404" pitchFamily="49" charset="0"/>
              </a:rPr>
              <a:t>	print(name, “is a boring name”)</a:t>
            </a:r>
          </a:p>
          <a:p>
            <a:pPr marL="0" indent="0">
              <a:buNone/>
            </a:pPr>
            <a:r>
              <a:rPr lang="en-US">
                <a:latin typeface="Consolas" panose="020B0609020204030204" pitchFamily="49" charset="0"/>
                <a:cs typeface="Courier New" panose="02070309020205020404" pitchFamily="49" charset="0"/>
              </a:rPr>
              <a:t>elif name == “Ringo”:</a:t>
            </a:r>
          </a:p>
          <a:p>
            <a:pPr marL="0" indent="0">
              <a:buNone/>
            </a:pPr>
            <a:r>
              <a:rPr lang="en-US">
                <a:latin typeface="Consolas" panose="020B0609020204030204" pitchFamily="49" charset="0"/>
                <a:cs typeface="Courier New" panose="02070309020205020404" pitchFamily="49" charset="0"/>
              </a:rPr>
              <a:t>	print(name, “is an awesome name”</a:t>
            </a:r>
          </a:p>
          <a:p>
            <a:pPr marL="0" indent="0">
              <a:buNone/>
            </a:pPr>
            <a:r>
              <a:rPr lang="en-US">
                <a:latin typeface="Consolas" panose="020B0609020204030204" pitchFamily="49" charset="0"/>
                <a:cs typeface="Courier New" panose="02070309020205020404" pitchFamily="49" charset="0"/>
              </a:rPr>
              <a:t>else:</a:t>
            </a:r>
          </a:p>
          <a:p>
            <a:pPr marL="0" indent="0">
              <a:buNone/>
            </a:pPr>
            <a:r>
              <a:rPr lang="en-US">
                <a:latin typeface="Consolas" panose="020B0609020204030204" pitchFamily="49" charset="0"/>
                <a:cs typeface="Courier New" panose="02070309020205020404" pitchFamily="49" charset="0"/>
              </a:rPr>
              <a:t>	print(name, “is OK but it’s not as good as Ringo”</a:t>
            </a:r>
          </a:p>
          <a:p>
            <a:pPr marL="0" indent="0">
              <a:buNone/>
            </a:pPr>
            <a:endParaRPr lang="en-US">
              <a:latin typeface="Consolas" panose="020B0609020204030204" pitchFamily="49" charset="0"/>
              <a:cs typeface="Courier New" panose="02070309020205020404" pitchFamily="49" charset="0"/>
            </a:endParaRPr>
          </a:p>
          <a:p>
            <a:endParaRPr lang="en-GB">
              <a:latin typeface="Consolas" panose="020B0609020204030204" pitchFamily="49" charset="0"/>
              <a:cs typeface="Courier New" panose="02070309020205020404" pitchFamily="49" charset="0"/>
            </a:endParaRPr>
          </a:p>
        </p:txBody>
      </p:sp>
    </p:spTree>
    <p:extLst>
      <p:ext uri="{BB962C8B-B14F-4D97-AF65-F5344CB8AC3E}">
        <p14:creationId xmlns:p14="http://schemas.microsoft.com/office/powerpoint/2010/main" val="11199467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1267-2967-18E1-17D3-E26DC634E442}"/>
              </a:ext>
            </a:extLst>
          </p:cNvPr>
          <p:cNvSpPr>
            <a:spLocks noGrp="1"/>
          </p:cNvSpPr>
          <p:nvPr>
            <p:ph type="title"/>
          </p:nvPr>
        </p:nvSpPr>
        <p:spPr/>
        <p:txBody>
          <a:bodyPr/>
          <a:lstStyle/>
          <a:p>
            <a:r>
              <a:rPr lang="en-US"/>
              <a:t>Conditional statements (</a:t>
            </a:r>
            <a:r>
              <a:rPr lang="en-US" i="1"/>
              <a:t>if-else</a:t>
            </a:r>
            <a:r>
              <a:rPr lang="en-US"/>
              <a:t>)</a:t>
            </a:r>
            <a:endParaRPr lang="en-GB"/>
          </a:p>
        </p:txBody>
      </p:sp>
      <p:sp>
        <p:nvSpPr>
          <p:cNvPr id="3" name="Content Placeholder 2">
            <a:extLst>
              <a:ext uri="{FF2B5EF4-FFF2-40B4-BE49-F238E27FC236}">
                <a16:creationId xmlns:a16="http://schemas.microsoft.com/office/drawing/2014/main" id="{0EF57EA8-CAF6-2D8C-9634-17C8AAFF1A4A}"/>
              </a:ext>
            </a:extLst>
          </p:cNvPr>
          <p:cNvSpPr>
            <a:spLocks noGrp="1"/>
          </p:cNvSpPr>
          <p:nvPr>
            <p:ph idx="1"/>
          </p:nvPr>
        </p:nvSpPr>
        <p:spPr>
          <a:xfrm>
            <a:off x="838200" y="2230472"/>
            <a:ext cx="10515600" cy="2941821"/>
          </a:xfrm>
          <a:solidFill>
            <a:schemeClr val="bg2"/>
          </a:solidFill>
          <a:ln>
            <a:noFill/>
          </a:ln>
        </p:spPr>
        <p:txBody>
          <a:bodyPr>
            <a:normAutofit/>
          </a:bodyPr>
          <a:lstStyle/>
          <a:p>
            <a:pPr marL="0" indent="0">
              <a:buNone/>
            </a:pPr>
            <a:r>
              <a:rPr lang="en-US" sz="2000">
                <a:latin typeface="Consolas" panose="020B0609020204030204" pitchFamily="49" charset="0"/>
                <a:cs typeface="Courier New" panose="02070309020205020404" pitchFamily="49" charset="0"/>
              </a:rPr>
              <a:t>names = [“John”, “Paul”, “George”, “Ringo”]</a:t>
            </a:r>
          </a:p>
          <a:p>
            <a:pPr marL="0" indent="0">
              <a:buNone/>
            </a:pPr>
            <a:r>
              <a:rPr lang="en-US" sz="2000">
                <a:latin typeface="Consolas" panose="020B0609020204030204" pitchFamily="49" charset="0"/>
                <a:cs typeface="Courier New" panose="02070309020205020404" pitchFamily="49" charset="0"/>
              </a:rPr>
              <a:t>for name in names:</a:t>
            </a:r>
          </a:p>
          <a:p>
            <a:pPr marL="457200" lvl="1" indent="0">
              <a:buNone/>
            </a:pPr>
            <a:r>
              <a:rPr lang="en-US" sz="2000">
                <a:latin typeface="Consolas" panose="020B0609020204030204" pitchFamily="49" charset="0"/>
                <a:cs typeface="Courier New" panose="02070309020205020404" pitchFamily="49" charset="0"/>
              </a:rPr>
              <a:t>if name == “Paul”:</a:t>
            </a:r>
          </a:p>
          <a:p>
            <a:pPr marL="457200" lvl="1" indent="0">
              <a:buNone/>
            </a:pPr>
            <a:r>
              <a:rPr lang="en-US" sz="2000">
                <a:latin typeface="Consolas" panose="020B0609020204030204" pitchFamily="49" charset="0"/>
                <a:cs typeface="Courier New" panose="02070309020205020404" pitchFamily="49" charset="0"/>
              </a:rPr>
              <a:t>	print(name, “is a boring name”)</a:t>
            </a:r>
          </a:p>
          <a:p>
            <a:pPr marL="457200" lvl="1" indent="0">
              <a:buNone/>
            </a:pPr>
            <a:r>
              <a:rPr lang="en-US" sz="2000">
                <a:latin typeface="Consolas" panose="020B0609020204030204" pitchFamily="49" charset="0"/>
                <a:cs typeface="Courier New" panose="02070309020205020404" pitchFamily="49" charset="0"/>
              </a:rPr>
              <a:t>elif name == “Ringo”:</a:t>
            </a:r>
          </a:p>
          <a:p>
            <a:pPr marL="457200" lvl="1" indent="0">
              <a:buNone/>
            </a:pPr>
            <a:r>
              <a:rPr lang="en-US" sz="2000">
                <a:latin typeface="Consolas" panose="020B0609020204030204" pitchFamily="49" charset="0"/>
                <a:cs typeface="Courier New" panose="02070309020205020404" pitchFamily="49" charset="0"/>
              </a:rPr>
              <a:t>	print(name, “is an awesome name”</a:t>
            </a:r>
          </a:p>
          <a:p>
            <a:pPr marL="457200" lvl="1" indent="0">
              <a:buNone/>
            </a:pPr>
            <a:r>
              <a:rPr lang="en-US" sz="2000">
                <a:latin typeface="Consolas" panose="020B0609020204030204" pitchFamily="49" charset="0"/>
                <a:cs typeface="Courier New" panose="02070309020205020404" pitchFamily="49" charset="0"/>
              </a:rPr>
              <a:t>else:</a:t>
            </a:r>
          </a:p>
          <a:p>
            <a:pPr marL="457200" lvl="1" indent="0">
              <a:buNone/>
            </a:pPr>
            <a:r>
              <a:rPr lang="en-US" sz="2000">
                <a:latin typeface="Consolas" panose="020B0609020204030204" pitchFamily="49" charset="0"/>
                <a:cs typeface="Courier New" panose="02070309020205020404" pitchFamily="49" charset="0"/>
              </a:rPr>
              <a:t>	print(name, “is OK but it’s not as good as Ringo”</a:t>
            </a:r>
          </a:p>
          <a:p>
            <a:pPr marL="0" indent="0">
              <a:buNone/>
            </a:pPr>
            <a:endParaRPr lang="en-US">
              <a:latin typeface="Consolas" panose="020B0609020204030204" pitchFamily="49" charset="0"/>
              <a:cs typeface="Courier New" panose="02070309020205020404" pitchFamily="49" charset="0"/>
            </a:endParaRPr>
          </a:p>
          <a:p>
            <a:endParaRPr lang="en-GB">
              <a:latin typeface="Consolas" panose="020B0609020204030204" pitchFamily="49" charset="0"/>
              <a:cs typeface="Courier New" panose="02070309020205020404" pitchFamily="49" charset="0"/>
            </a:endParaRPr>
          </a:p>
        </p:txBody>
      </p:sp>
      <p:sp>
        <p:nvSpPr>
          <p:cNvPr id="4" name="Content Placeholder 2">
            <a:extLst>
              <a:ext uri="{FF2B5EF4-FFF2-40B4-BE49-F238E27FC236}">
                <a16:creationId xmlns:a16="http://schemas.microsoft.com/office/drawing/2014/main" id="{3411B452-0F96-2C2B-9151-1CA5C5C38123}"/>
              </a:ext>
            </a:extLst>
          </p:cNvPr>
          <p:cNvSpPr txBox="1">
            <a:spLocks/>
          </p:cNvSpPr>
          <p:nvPr/>
        </p:nvSpPr>
        <p:spPr>
          <a:xfrm>
            <a:off x="838200" y="1562390"/>
            <a:ext cx="10515600" cy="580518"/>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Conditional statements are often used together with for-loops</a:t>
            </a:r>
            <a:endParaRPr lang="en-GB" b="1">
              <a:cs typeface="Courier New" panose="02070309020205020404" pitchFamily="49" charset="0"/>
            </a:endParaRPr>
          </a:p>
        </p:txBody>
      </p:sp>
      <p:sp>
        <p:nvSpPr>
          <p:cNvPr id="5" name="Content Placeholder 2">
            <a:extLst>
              <a:ext uri="{FF2B5EF4-FFF2-40B4-BE49-F238E27FC236}">
                <a16:creationId xmlns:a16="http://schemas.microsoft.com/office/drawing/2014/main" id="{C10FB61A-5BC7-C0D7-4F09-3685A5FFA741}"/>
              </a:ext>
            </a:extLst>
          </p:cNvPr>
          <p:cNvSpPr txBox="1">
            <a:spLocks/>
          </p:cNvSpPr>
          <p:nvPr/>
        </p:nvSpPr>
        <p:spPr>
          <a:xfrm>
            <a:off x="838200" y="5295609"/>
            <a:ext cx="10515600" cy="1042370"/>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If this is getting confusing, try running in debug mode and watching how the code moves from line to line and how the variables change</a:t>
            </a:r>
            <a:endParaRPr lang="en-GB">
              <a:cs typeface="Courier New" panose="02070309020205020404" pitchFamily="49" charset="0"/>
            </a:endParaRPr>
          </a:p>
        </p:txBody>
      </p:sp>
      <p:sp>
        <p:nvSpPr>
          <p:cNvPr id="6" name="Content Placeholder 2">
            <a:extLst>
              <a:ext uri="{FF2B5EF4-FFF2-40B4-BE49-F238E27FC236}">
                <a16:creationId xmlns:a16="http://schemas.microsoft.com/office/drawing/2014/main" id="{FAC7AD1A-0822-2683-82B7-6DD009951DD7}"/>
              </a:ext>
            </a:extLst>
          </p:cNvPr>
          <p:cNvSpPr txBox="1">
            <a:spLocks/>
          </p:cNvSpPr>
          <p:nvPr/>
        </p:nvSpPr>
        <p:spPr>
          <a:xfrm>
            <a:off x="838200" y="6202616"/>
            <a:ext cx="10515600" cy="580518"/>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ourier New" panose="02070309020205020404" pitchFamily="49" charset="0"/>
              </a:rPr>
              <a:t>Try looping through a list of numbers instead of strings</a:t>
            </a:r>
            <a:endParaRPr lang="en-GB">
              <a:cs typeface="Courier New" panose="02070309020205020404" pitchFamily="49" charset="0"/>
            </a:endParaRPr>
          </a:p>
        </p:txBody>
      </p:sp>
    </p:spTree>
    <p:extLst>
      <p:ext uri="{BB962C8B-B14F-4D97-AF65-F5344CB8AC3E}">
        <p14:creationId xmlns:p14="http://schemas.microsoft.com/office/powerpoint/2010/main" val="245177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TotalTime>
  <Words>2342</Words>
  <Application>Microsoft Office PowerPoint</Application>
  <PresentationFormat>Widescreen</PresentationFormat>
  <Paragraphs>272</Paragraphs>
  <Slides>45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Courier New</vt:lpstr>
      <vt:lpstr>Consolas</vt:lpstr>
      <vt:lpstr>Gameplay</vt:lpstr>
      <vt:lpstr>Calibri</vt:lpstr>
      <vt:lpstr>Arial</vt:lpstr>
      <vt:lpstr>Calibri Light</vt:lpstr>
      <vt:lpstr>Office Theme</vt:lpstr>
      <vt:lpstr>Programming and Data Visualization for Researchers [HEL-8048] </vt:lpstr>
      <vt:lpstr>Extra material on Python fundamentals</vt:lpstr>
      <vt:lpstr>Modules, packages and libraries</vt:lpstr>
      <vt:lpstr>Modules and packages</vt:lpstr>
      <vt:lpstr>Importing a module</vt:lpstr>
      <vt:lpstr>Importing a module</vt:lpstr>
      <vt:lpstr>Installing a module</vt:lpstr>
      <vt:lpstr>The terminal</vt:lpstr>
      <vt:lpstr>PowerPoint Presentation</vt:lpstr>
      <vt:lpstr>PowerPoint Presentation</vt:lpstr>
      <vt:lpstr>PowerPoint Presentation</vt:lpstr>
      <vt:lpstr>PowerPoint Presentation</vt:lpstr>
      <vt:lpstr>PowerPoint Presentation</vt:lpstr>
      <vt:lpstr>Installing a module</vt:lpstr>
      <vt:lpstr>Importing a module</vt:lpstr>
      <vt:lpstr>Loading data</vt:lpstr>
      <vt:lpstr>Thinking about data structures</vt:lpstr>
      <vt:lpstr>Thinking about data structures</vt:lpstr>
      <vt:lpstr>COFFEE TIME</vt:lpstr>
      <vt:lpstr>Plotting some data</vt:lpstr>
      <vt:lpstr>Plotting some data</vt:lpstr>
      <vt:lpstr>COFFEE TIME</vt:lpstr>
      <vt:lpstr>Variables: Strings</vt:lpstr>
      <vt:lpstr>Variables: Strings</vt:lpstr>
      <vt:lpstr>Variables: Strings</vt:lpstr>
      <vt:lpstr>Variables: Strings</vt:lpstr>
      <vt:lpstr>Variables: Strings</vt:lpstr>
      <vt:lpstr>Variables: Examining variables</vt:lpstr>
      <vt:lpstr>Variables: Numeric and Boolean types</vt:lpstr>
      <vt:lpstr>Variables: Lists</vt:lpstr>
      <vt:lpstr>Variables: Lists and indexing</vt:lpstr>
      <vt:lpstr>Variables: Lists</vt:lpstr>
      <vt:lpstr>For-loops</vt:lpstr>
      <vt:lpstr>For-loops</vt:lpstr>
      <vt:lpstr>For-loops: basic syntax</vt:lpstr>
      <vt:lpstr>For-loops</vt:lpstr>
      <vt:lpstr>For-loops</vt:lpstr>
      <vt:lpstr>Conditional statements (if-else)</vt:lpstr>
      <vt:lpstr>Conditional statements (if-else)</vt:lpstr>
      <vt:lpstr>Conditional statements (if-else)</vt:lpstr>
      <vt:lpstr>Conditional statements (if-else)</vt:lpstr>
      <vt:lpstr>Conditional statements (if-else)</vt:lpstr>
      <vt:lpstr>Conditional statements (if-else)</vt:lpstr>
      <vt:lpstr>Conditional statements (if-else)</vt:lpstr>
      <vt:lpstr>Conditional statements (if-else)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and Data Visualization for Researchers [PSY-3035] </dc:title>
  <dc:creator>James Edgar McCutcheon</dc:creator>
  <cp:lastModifiedBy>James Edgar McCutcheon</cp:lastModifiedBy>
  <cp:revision>1</cp:revision>
  <dcterms:created xsi:type="dcterms:W3CDTF">2023-01-26T07:34:03Z</dcterms:created>
  <dcterms:modified xsi:type="dcterms:W3CDTF">2026-09-14T12:02:59Z</dcterms:modified>
</cp:coreProperties>
</file>
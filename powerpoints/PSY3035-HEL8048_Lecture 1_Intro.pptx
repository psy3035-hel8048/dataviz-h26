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0" r:id="rId3"/>
    <p:sldId id="257" r:id="rId4"/>
    <p:sldId id="264" r:id="rId5"/>
    <p:sldId id="274" r:id="rId6"/>
    <p:sldId id="258" r:id="rId7"/>
    <p:sldId id="259" r:id="rId8"/>
    <p:sldId id="265" r:id="rId9"/>
    <p:sldId id="261" r:id="rId10"/>
    <p:sldId id="266" r:id="rId11"/>
    <p:sldId id="271" r:id="rId12"/>
    <p:sldId id="273" r:id="rId13"/>
    <p:sldId id="272" r:id="rId14"/>
    <p:sldId id="270" r:id="rId15"/>
    <p:sldId id="267" r:id="rId16"/>
    <p:sldId id="268" r:id="rId17"/>
    <p:sldId id="269" r:id="rId18"/>
  </p:sldIdLst>
  <p:sldSz cx="12192000" cy="6858000"/>
  <p:notesSz cx="6858000" cy="9144000"/>
  <p:embeddedFontLst>
    <p:embeddedFont>
      <p:font typeface="Gameplay" panose="000004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A67F56-1943-4C6A-9888-A1E41A8D30D0}" v="4" dt="2026-08-24T08:58:44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2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Edgar McCutcheon" userId="7f873ef2-5165-4f07-9a0f-a18721295519" providerId="ADAL" clId="{042E2793-3DC5-4CE9-BA91-01603716AA59}"/>
    <pc:docChg chg="custSel addSld modSld">
      <pc:chgData name="James Edgar McCutcheon" userId="7f873ef2-5165-4f07-9a0f-a18721295519" providerId="ADAL" clId="{042E2793-3DC5-4CE9-BA91-01603716AA59}" dt="2026-08-24T09:04:48.414" v="589" actId="20577"/>
      <pc:docMkLst>
        <pc:docMk/>
      </pc:docMkLst>
      <pc:sldChg chg="modSp mod">
        <pc:chgData name="James Edgar McCutcheon" userId="7f873ef2-5165-4f07-9a0f-a18721295519" providerId="ADAL" clId="{042E2793-3DC5-4CE9-BA91-01603716AA59}" dt="2026-08-24T08:47:28.563" v="2" actId="6549"/>
        <pc:sldMkLst>
          <pc:docMk/>
          <pc:sldMk cId="1740154832" sldId="256"/>
        </pc:sldMkLst>
        <pc:spChg chg="mod">
          <ac:chgData name="James Edgar McCutcheon" userId="7f873ef2-5165-4f07-9a0f-a18721295519" providerId="ADAL" clId="{042E2793-3DC5-4CE9-BA91-01603716AA59}" dt="2026-08-24T08:47:28.563" v="2" actId="6549"/>
          <ac:spMkLst>
            <pc:docMk/>
            <pc:sldMk cId="1740154832" sldId="256"/>
            <ac:spMk id="2" creationId="{1C2CB861-1161-A2B4-7F33-CE37DE120B14}"/>
          </ac:spMkLst>
        </pc:spChg>
      </pc:sldChg>
      <pc:sldChg chg="addSp delSp modSp mod modAnim">
        <pc:chgData name="James Edgar McCutcheon" userId="7f873ef2-5165-4f07-9a0f-a18721295519" providerId="ADAL" clId="{042E2793-3DC5-4CE9-BA91-01603716AA59}" dt="2026-08-24T08:54:26.521" v="166" actId="20577"/>
        <pc:sldMkLst>
          <pc:docMk/>
          <pc:sldMk cId="248097778" sldId="260"/>
        </pc:sldMkLst>
        <pc:spChg chg="mod">
          <ac:chgData name="James Edgar McCutcheon" userId="7f873ef2-5165-4f07-9a0f-a18721295519" providerId="ADAL" clId="{042E2793-3DC5-4CE9-BA91-01603716AA59}" dt="2026-08-24T08:54:26.521" v="166" actId="20577"/>
          <ac:spMkLst>
            <pc:docMk/>
            <pc:sldMk cId="248097778" sldId="260"/>
            <ac:spMk id="3" creationId="{DD32C9E9-0F2E-88F7-B0D5-46910F83ADED}"/>
          </ac:spMkLst>
        </pc:spChg>
        <pc:spChg chg="add mod">
          <ac:chgData name="James Edgar McCutcheon" userId="7f873ef2-5165-4f07-9a0f-a18721295519" providerId="ADAL" clId="{042E2793-3DC5-4CE9-BA91-01603716AA59}" dt="2026-08-24T08:50:48.101" v="24" actId="164"/>
          <ac:spMkLst>
            <pc:docMk/>
            <pc:sldMk cId="248097778" sldId="260"/>
            <ac:spMk id="7" creationId="{325D8452-407D-18FC-7776-630983DC61C2}"/>
          </ac:spMkLst>
        </pc:spChg>
        <pc:spChg chg="add mod">
          <ac:chgData name="James Edgar McCutcheon" userId="7f873ef2-5165-4f07-9a0f-a18721295519" providerId="ADAL" clId="{042E2793-3DC5-4CE9-BA91-01603716AA59}" dt="2026-08-24T08:50:48.101" v="24" actId="164"/>
          <ac:spMkLst>
            <pc:docMk/>
            <pc:sldMk cId="248097778" sldId="260"/>
            <ac:spMk id="9" creationId="{3415A40C-89C6-2668-1DB5-EDCD890CB795}"/>
          </ac:spMkLst>
        </pc:spChg>
        <pc:grpChg chg="add del mod">
          <ac:chgData name="James Edgar McCutcheon" userId="7f873ef2-5165-4f07-9a0f-a18721295519" providerId="ADAL" clId="{042E2793-3DC5-4CE9-BA91-01603716AA59}" dt="2026-08-24T08:51:45.088" v="26" actId="478"/>
          <ac:grpSpMkLst>
            <pc:docMk/>
            <pc:sldMk cId="248097778" sldId="260"/>
            <ac:grpSpMk id="11" creationId="{424BDA5F-82F5-01DB-9A58-EDF322BDDFC5}"/>
          </ac:grpSpMkLst>
        </pc:grpChg>
        <pc:picChg chg="add del mod">
          <ac:chgData name="James Edgar McCutcheon" userId="7f873ef2-5165-4f07-9a0f-a18721295519" providerId="ADAL" clId="{042E2793-3DC5-4CE9-BA91-01603716AA59}" dt="2026-08-24T08:51:43.524" v="25" actId="478"/>
          <ac:picMkLst>
            <pc:docMk/>
            <pc:sldMk cId="248097778" sldId="260"/>
            <ac:picMk id="6" creationId="{8456775F-0DA0-4B80-8EED-9DB7BFEF848D}"/>
          </ac:picMkLst>
        </pc:picChg>
      </pc:sldChg>
      <pc:sldChg chg="modSp mod">
        <pc:chgData name="James Edgar McCutcheon" userId="7f873ef2-5165-4f07-9a0f-a18721295519" providerId="ADAL" clId="{042E2793-3DC5-4CE9-BA91-01603716AA59}" dt="2026-08-24T09:03:14.209" v="494" actId="20577"/>
        <pc:sldMkLst>
          <pc:docMk/>
          <pc:sldMk cId="2007370750" sldId="261"/>
        </pc:sldMkLst>
        <pc:spChg chg="mod">
          <ac:chgData name="James Edgar McCutcheon" userId="7f873ef2-5165-4f07-9a0f-a18721295519" providerId="ADAL" clId="{042E2793-3DC5-4CE9-BA91-01603716AA59}" dt="2026-08-24T09:03:14.209" v="494" actId="20577"/>
          <ac:spMkLst>
            <pc:docMk/>
            <pc:sldMk cId="2007370750" sldId="261"/>
            <ac:spMk id="3" creationId="{66DED0E8-73E1-F995-20F8-A788F8174D0C}"/>
          </ac:spMkLst>
        </pc:spChg>
      </pc:sldChg>
      <pc:sldChg chg="addSp modSp mod">
        <pc:chgData name="James Edgar McCutcheon" userId="7f873ef2-5165-4f07-9a0f-a18721295519" providerId="ADAL" clId="{042E2793-3DC5-4CE9-BA91-01603716AA59}" dt="2026-08-24T09:01:45.054" v="412" actId="1076"/>
        <pc:sldMkLst>
          <pc:docMk/>
          <pc:sldMk cId="1124410100" sldId="264"/>
        </pc:sldMkLst>
        <pc:spChg chg="add mod">
          <ac:chgData name="James Edgar McCutcheon" userId="7f873ef2-5165-4f07-9a0f-a18721295519" providerId="ADAL" clId="{042E2793-3DC5-4CE9-BA91-01603716AA59}" dt="2026-08-24T09:01:45.054" v="412" actId="1076"/>
          <ac:spMkLst>
            <pc:docMk/>
            <pc:sldMk cId="1124410100" sldId="264"/>
            <ac:spMk id="6" creationId="{B84AF0D0-08B3-F0ED-FFA0-D1133AB1F7DD}"/>
          </ac:spMkLst>
        </pc:spChg>
      </pc:sldChg>
      <pc:sldChg chg="modSp mod">
        <pc:chgData name="James Edgar McCutcheon" userId="7f873ef2-5165-4f07-9a0f-a18721295519" providerId="ADAL" clId="{042E2793-3DC5-4CE9-BA91-01603716AA59}" dt="2026-08-24T09:04:48.414" v="589" actId="20577"/>
        <pc:sldMkLst>
          <pc:docMk/>
          <pc:sldMk cId="3490090179" sldId="272"/>
        </pc:sldMkLst>
        <pc:spChg chg="mod">
          <ac:chgData name="James Edgar McCutcheon" userId="7f873ef2-5165-4f07-9a0f-a18721295519" providerId="ADAL" clId="{042E2793-3DC5-4CE9-BA91-01603716AA59}" dt="2026-08-24T09:04:48.414" v="589" actId="20577"/>
          <ac:spMkLst>
            <pc:docMk/>
            <pc:sldMk cId="3490090179" sldId="272"/>
            <ac:spMk id="3" creationId="{961C1467-26E0-D075-DA4A-7AE7248F41C8}"/>
          </ac:spMkLst>
        </pc:spChg>
      </pc:sldChg>
      <pc:sldChg chg="addSp delSp modSp add mod setBg delDesignElem">
        <pc:chgData name="James Edgar McCutcheon" userId="7f873ef2-5165-4f07-9a0f-a18721295519" providerId="ADAL" clId="{042E2793-3DC5-4CE9-BA91-01603716AA59}" dt="2026-08-24T09:01:25.658" v="410" actId="1076"/>
        <pc:sldMkLst>
          <pc:docMk/>
          <pc:sldMk cId="3873793256" sldId="274"/>
        </pc:sldMkLst>
        <pc:spChg chg="mod">
          <ac:chgData name="James Edgar McCutcheon" userId="7f873ef2-5165-4f07-9a0f-a18721295519" providerId="ADAL" clId="{042E2793-3DC5-4CE9-BA91-01603716AA59}" dt="2026-08-24T09:01:09.890" v="408" actId="14100"/>
          <ac:spMkLst>
            <pc:docMk/>
            <pc:sldMk cId="3873793256" sldId="274"/>
            <ac:spMk id="2" creationId="{1CD06DD1-4307-B4A0-3A28-AD9FD116E610}"/>
          </ac:spMkLst>
        </pc:spChg>
        <pc:spChg chg="mod">
          <ac:chgData name="James Edgar McCutcheon" userId="7f873ef2-5165-4f07-9a0f-a18721295519" providerId="ADAL" clId="{042E2793-3DC5-4CE9-BA91-01603716AA59}" dt="2026-08-24T09:01:04.886" v="407" actId="20577"/>
          <ac:spMkLst>
            <pc:docMk/>
            <pc:sldMk cId="3873793256" sldId="274"/>
            <ac:spMk id="3" creationId="{B31B646F-D604-1A95-54EA-03E66736B1D3}"/>
          </ac:spMkLst>
        </pc:spChg>
        <pc:spChg chg="add mod">
          <ac:chgData name="James Edgar McCutcheon" userId="7f873ef2-5165-4f07-9a0f-a18721295519" providerId="ADAL" clId="{042E2793-3DC5-4CE9-BA91-01603716AA59}" dt="2026-08-24T09:01:25.658" v="410" actId="1076"/>
          <ac:spMkLst>
            <pc:docMk/>
            <pc:sldMk cId="3873793256" sldId="274"/>
            <ac:spMk id="8" creationId="{BB70C906-5220-4038-7047-BF9C183E4F6B}"/>
          </ac:spMkLst>
        </pc:spChg>
        <pc:spChg chg="del">
          <ac:chgData name="James Edgar McCutcheon" userId="7f873ef2-5165-4f07-9a0f-a18721295519" providerId="ADAL" clId="{042E2793-3DC5-4CE9-BA91-01603716AA59}" dt="2026-08-24T08:58:44.551" v="168"/>
          <ac:spMkLst>
            <pc:docMk/>
            <pc:sldMk cId="3873793256" sldId="274"/>
            <ac:spMk id="9" creationId="{24879193-D90C-EEB6-D994-6DDA468D5E22}"/>
          </ac:spMkLst>
        </pc:spChg>
        <pc:spChg chg="del">
          <ac:chgData name="James Edgar McCutcheon" userId="7f873ef2-5165-4f07-9a0f-a18721295519" providerId="ADAL" clId="{042E2793-3DC5-4CE9-BA91-01603716AA59}" dt="2026-08-24T08:58:44.551" v="168"/>
          <ac:spMkLst>
            <pc:docMk/>
            <pc:sldMk cId="3873793256" sldId="274"/>
            <ac:spMk id="11" creationId="{AAB78414-F7A3-1812-054F-09BC59D3F2B3}"/>
          </ac:spMkLst>
        </pc:spChg>
        <pc:picChg chg="del">
          <ac:chgData name="James Edgar McCutcheon" userId="7f873ef2-5165-4f07-9a0f-a18721295519" providerId="ADAL" clId="{042E2793-3DC5-4CE9-BA91-01603716AA59}" dt="2026-08-24T08:59:54.039" v="214" actId="478"/>
          <ac:picMkLst>
            <pc:docMk/>
            <pc:sldMk cId="3873793256" sldId="274"/>
            <ac:picMk id="4" creationId="{1CD070D5-68B9-3752-68D4-C24B9F76A1FF}"/>
          </ac:picMkLst>
        </pc:picChg>
        <pc:picChg chg="add mod">
          <ac:chgData name="James Edgar McCutcheon" userId="7f873ef2-5165-4f07-9a0f-a18721295519" providerId="ADAL" clId="{042E2793-3DC5-4CE9-BA91-01603716AA59}" dt="2026-08-24T08:59:56.260" v="215" actId="1076"/>
          <ac:picMkLst>
            <pc:docMk/>
            <pc:sldMk cId="3873793256" sldId="274"/>
            <ac:picMk id="6" creationId="{89419549-14B5-BD15-D4A8-A6A2476271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4939-8D0F-9231-8DE5-F2FF0CA73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D23C1-4296-1F98-F835-66F423679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A1372-5C3E-92BE-4E81-329342D9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95F1E-7792-F674-A50A-4906BBDE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47318-29E4-91E6-C52A-F4B31102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08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35830-4A5B-DA81-80D1-5B207CC7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21F7-1E53-01F3-DF46-48B3540D2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8D956-D96D-DB10-24BF-3F509334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9F5CC-38DB-2783-9D8E-0AA99A79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5819-140D-98DB-1D53-3F6D3BEA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90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77E6-BA90-E35C-CA08-C61DAEF38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91F1B-0969-F186-2A77-328F2F4B5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1FE40-99A4-C10A-B383-CA974807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23DB1-EFF5-1559-1A52-5376FD17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4FD0-82D0-5528-1A26-7B61248B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78B4E-5E5C-B988-2CAC-FAED3599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A8F13-2248-1F88-728E-4DDE50F65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F59D7-0BDF-BB04-4E09-37C963EAB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487CA-E7E3-CC83-5D03-E058ACCB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43FA9-063E-A30F-CDAD-76AF3BC5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AE605-0ACE-41D8-3DD5-BDB179CC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81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025B-36B9-52F1-EDF5-E8E5D25F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28E68-CBCF-6B3D-980E-485FBF432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2DB7-6C46-1AD4-116D-BAE8A9DEB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6C6F5-EE54-A945-E12C-97C495D0A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71492-209A-D0CA-8125-0C230A2CD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5BAD9-9EF6-B374-5DAD-2A8E5C91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C59E2-30BC-3156-DDBD-9B1BE12F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37FD8-35B2-8506-A162-5D3E5D06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68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6ED8-DD25-5625-90BF-8DCD0B72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0F0AE-017A-934F-E1D7-3371E707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329D5-5E81-BD1A-163D-C1B72DC9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3BA0D-0675-641E-08E1-97ED6234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4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19DF6-EA7B-4F66-C895-7F239893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9A352-BDF8-DFC5-FD8C-123F4E93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2E6C1-D3E5-B2AE-7738-549907E3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0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AC17-2792-C5E5-70D3-7D271F7E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F6446-0D03-C85F-C6AD-A19527113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57EFB-CB0E-4F30-6799-8E9E1FE4C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6F56E-CFF8-FC77-ADDA-C9E83772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47E3C-C5AC-ED8C-991C-568D1D3C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6F104-1B3D-A392-885C-AA79FDC5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03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6B9F5-FEBB-630C-BB9E-B21F8C8C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61202-6C64-0B4E-0DED-9F0CF3E37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58C10-3C3B-2DDB-B811-1A686FDFA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99047-8220-530B-0B83-1C353357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B356C-6B47-381A-8ECC-5DCB25C9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98451-C906-37A1-EA7D-4C9E5115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7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B022-5193-A5E9-C010-F4A044C3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E95FE-4B61-2E4E-F9CE-E2F5C8B14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2D09-8A93-D18E-03C8-F453F0B4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58312-2ABB-76B9-4A74-46F27A66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BE4C-712B-0DF9-C26C-395A917A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21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67D2B-8D1F-ED65-16AB-E715A0C42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56955-910D-C5F4-189F-8AF0D9FDB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6693A-2C64-3BD7-D08A-6B43F04A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82367-EB00-9B6C-EB00-8CB45B48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FAFC4-8700-5F4E-68BD-B22612EA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87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6991-BA9E-431F-B3DA-4CEDD5AAC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3FF4D-DB16-D9E5-F9DE-D9CE95A9E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2602-62B5-FC26-731D-B9B26F86D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700F7-F4DE-4A8F-85B6-0302D2755DBB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F2715-EEEA-BEDD-E805-B8D6A3575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C1929-7B9A-5EC4-503D-D4F466352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D031D-6A80-4F5B-993E-3B6887124B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29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uit.instructure.com/courses/29582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anaconda/install/windows/" TargetMode="External"/><Relationship Id="rId2" Type="http://schemas.openxmlformats.org/officeDocument/2006/relationships/hyperlink" Target="https://docs.anaconda.com/anaconda/install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5BB05982-3E35-1738-8F45-22D2B850B6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1" r="9089" b="1570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CB861-1161-A2B4-7F33-CE37DE120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51976" cy="3204134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Programming and Data Visualization for Researchers</a:t>
            </a:r>
            <a:b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</a:br>
            <a:r>
              <a:rPr lang="nb-NO" sz="3600">
                <a:solidFill>
                  <a:schemeClr val="accent1"/>
                </a:solidFill>
                <a:latin typeface="Gameplay" panose="00000400000000000000" pitchFamily="2" charset="0"/>
                <a:cs typeface="Courier New" panose="02070309020205020404" pitchFamily="49" charset="0"/>
              </a:rPr>
              <a:t>PSY-3035</a:t>
            </a:r>
            <a:b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</a:br>
            <a:r>
              <a:rPr lang="nb-NO" sz="3600">
                <a:solidFill>
                  <a:schemeClr val="accent6"/>
                </a:solidFill>
                <a:latin typeface="Gameplay" panose="00000400000000000000" pitchFamily="2" charset="0"/>
                <a:cs typeface="Courier New" panose="02070309020205020404" pitchFamily="49" charset="0"/>
              </a:rPr>
              <a:t>HEL-8048</a:t>
            </a: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 </a:t>
            </a:r>
            <a:endParaRPr lang="en-GB" sz="3600">
              <a:latin typeface="Gameplay" panose="000004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B11E9-5C2F-87E3-6436-5CF526B6A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ct val="120000"/>
              </a:lnSpc>
            </a:pPr>
            <a:r>
              <a:rPr lang="nb-NO" sz="2800" b="1">
                <a:latin typeface="Gameplay" panose="00000400000000000000" pitchFamily="2" charset="0"/>
              </a:rPr>
              <a:t>James McCutcheon</a:t>
            </a:r>
          </a:p>
          <a:p>
            <a:pPr algn="l"/>
            <a:r>
              <a:rPr lang="nb-NO" sz="2800" b="1">
                <a:latin typeface="Gameplay" panose="00000400000000000000" pitchFamily="2" charset="0"/>
              </a:rPr>
              <a:t>IPS / Helsefak</a:t>
            </a:r>
            <a:endParaRPr lang="en-GB" sz="2800" b="1">
              <a:latin typeface="Gameplay" panose="000004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15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64782-4367-7219-1247-DAEC7E0F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07765" cy="1807305"/>
          </a:xfrm>
        </p:spPr>
        <p:txBody>
          <a:bodyPr>
            <a:normAutofit/>
          </a:bodyPr>
          <a:lstStyle/>
          <a:p>
            <a:r>
              <a:rPr lang="en-US"/>
              <a:t>Format and expectations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C9E9-0F2E-88F7-B0D5-46910F83A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691" y="2050663"/>
            <a:ext cx="5487785" cy="431688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nb-NO" sz="2000" b="1"/>
              <a:t>Workshop</a:t>
            </a:r>
            <a:r>
              <a:rPr lang="nb-NO" sz="2000"/>
              <a:t> format</a:t>
            </a:r>
          </a:p>
          <a:p>
            <a:pPr>
              <a:spcAft>
                <a:spcPts val="1200"/>
              </a:spcAft>
            </a:pPr>
            <a:r>
              <a:rPr lang="nb-NO" sz="2000"/>
              <a:t>Highly </a:t>
            </a:r>
            <a:r>
              <a:rPr lang="nb-NO" sz="2000" b="1"/>
              <a:t>interactive</a:t>
            </a:r>
            <a:r>
              <a:rPr lang="nb-NO" sz="2000"/>
              <a:t> – lots of opportunities to discuss and ask questions</a:t>
            </a:r>
          </a:p>
          <a:p>
            <a:pPr>
              <a:spcAft>
                <a:spcPts val="1200"/>
              </a:spcAft>
            </a:pPr>
            <a:r>
              <a:rPr lang="nb-NO" sz="2000" b="1"/>
              <a:t>Preparation</a:t>
            </a:r>
            <a:r>
              <a:rPr lang="nb-NO" sz="2000"/>
              <a:t> for each workshop will be some reading/watching/coding</a:t>
            </a:r>
          </a:p>
          <a:p>
            <a:pPr>
              <a:spcAft>
                <a:spcPts val="1200"/>
              </a:spcAft>
            </a:pPr>
            <a:r>
              <a:rPr lang="nb-NO" sz="2000"/>
              <a:t>1-2 </a:t>
            </a:r>
            <a:r>
              <a:rPr lang="nb-NO" sz="2000" b="1"/>
              <a:t>mini-lectures</a:t>
            </a:r>
            <a:r>
              <a:rPr lang="nb-NO" sz="2000"/>
              <a:t> per workshop, in scheduled hours (14:15-16:00)</a:t>
            </a:r>
          </a:p>
          <a:p>
            <a:pPr>
              <a:spcAft>
                <a:spcPts val="1200"/>
              </a:spcAft>
            </a:pPr>
            <a:r>
              <a:rPr lang="nb-NO" sz="2000"/>
              <a:t>Time for </a:t>
            </a:r>
            <a:r>
              <a:rPr lang="nb-NO" sz="2000" b="1"/>
              <a:t>independent coding and help </a:t>
            </a:r>
            <a:r>
              <a:rPr lang="nb-NO" sz="2000"/>
              <a:t>in final, unscheduled hour (16:00-17:00)</a:t>
            </a:r>
          </a:p>
          <a:p>
            <a:pPr>
              <a:spcAft>
                <a:spcPts val="1200"/>
              </a:spcAft>
            </a:pPr>
            <a:r>
              <a:rPr lang="nb-NO" sz="2000"/>
              <a:t>Expected to work for some hours (at least 8 h) in between classes</a:t>
            </a:r>
            <a:endParaRPr lang="en-GB" sz="2000"/>
          </a:p>
        </p:txBody>
      </p:sp>
      <p:pic>
        <p:nvPicPr>
          <p:cNvPr id="5" name="Picture 4" descr="A picture containing person&#10;&#10;Description automatically generated">
            <a:extLst>
              <a:ext uri="{FF2B5EF4-FFF2-40B4-BE49-F238E27FC236}">
                <a16:creationId xmlns:a16="http://schemas.microsoft.com/office/drawing/2014/main" id="{CFB80463-0799-1763-D71D-2678DFBDC8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" r="1299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09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0E5DC-BCAE-9B2A-8386-8742CC86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Canvas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3862AD6B-555E-6F0B-C888-72DC6ABE2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863008"/>
            <a:ext cx="6846363" cy="498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1F10-89CB-58A8-1C81-CAF8D59C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/>
              <a:t>Datacamp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033B1-246C-25C6-BD9E-5731EE51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592705" cy="378541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000"/>
              <a:t>Introduction to Python fundamentals</a:t>
            </a:r>
          </a:p>
          <a:p>
            <a:pPr>
              <a:spcAft>
                <a:spcPts val="1200"/>
              </a:spcAft>
            </a:pPr>
            <a:r>
              <a:rPr lang="en-US" sz="2000"/>
              <a:t>Can also learn R in similar way</a:t>
            </a:r>
          </a:p>
          <a:p>
            <a:pPr>
              <a:spcAft>
                <a:spcPts val="1200"/>
              </a:spcAft>
            </a:pPr>
            <a:r>
              <a:rPr lang="en-US" sz="2000"/>
              <a:t>Able to test your progress as you go</a:t>
            </a:r>
            <a:endParaRPr lang="en-GB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85AEF9-D59F-772B-A492-F5969062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2396567"/>
            <a:ext cx="6019331" cy="206162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4AF0D0-08B3-F0ED-FFA0-D1133AB1F7DD}"/>
              </a:ext>
            </a:extLst>
          </p:cNvPr>
          <p:cNvSpPr txBox="1"/>
          <p:nvPr/>
        </p:nvSpPr>
        <p:spPr>
          <a:xfrm>
            <a:off x="729442" y="611445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https://www.datacamp.com/</a:t>
            </a:r>
          </a:p>
        </p:txBody>
      </p:sp>
    </p:spTree>
    <p:extLst>
      <p:ext uri="{BB962C8B-B14F-4D97-AF65-F5344CB8AC3E}">
        <p14:creationId xmlns:p14="http://schemas.microsoft.com/office/powerpoint/2010/main" val="112441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C35A-F143-0223-35C5-7633179C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6DD1-4307-B4A0-3A28-AD9FD116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4801845" cy="1622321"/>
          </a:xfrm>
        </p:spPr>
        <p:txBody>
          <a:bodyPr>
            <a:normAutofit/>
          </a:bodyPr>
          <a:lstStyle/>
          <a:p>
            <a:r>
              <a:rPr lang="en-US"/>
              <a:t>Software Carpentry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B646F-D604-1A95-54EA-03E66736B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592705" cy="378541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000"/>
              <a:t>Introduces concepts and is focused on data analysis</a:t>
            </a:r>
          </a:p>
          <a:p>
            <a:pPr>
              <a:spcAft>
                <a:spcPts val="1200"/>
              </a:spcAft>
            </a:pPr>
            <a:r>
              <a:rPr lang="en-US" sz="2000"/>
              <a:t>Includes plotting and goes further than Datacamp in the skills we will use</a:t>
            </a:r>
          </a:p>
          <a:p>
            <a:pPr>
              <a:spcAft>
                <a:spcPts val="1200"/>
              </a:spcAft>
            </a:pPr>
            <a:r>
              <a:rPr lang="en-US" sz="2000"/>
              <a:t>Many other courses available as well as “real-time” lessons</a:t>
            </a:r>
            <a:endParaRPr lang="en-GB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19549-14B5-BD15-D4A8-A6A247627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403" y="2378211"/>
            <a:ext cx="5001323" cy="1952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70C906-5220-4038-7047-BF9C183E4F6B}"/>
              </a:ext>
            </a:extLst>
          </p:cNvPr>
          <p:cNvSpPr txBox="1"/>
          <p:nvPr/>
        </p:nvSpPr>
        <p:spPr>
          <a:xfrm>
            <a:off x="6199513" y="622381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https://swcarpentry.github.io/python-novice-inflammation/</a:t>
            </a:r>
          </a:p>
        </p:txBody>
      </p:sp>
    </p:spTree>
    <p:extLst>
      <p:ext uri="{BB962C8B-B14F-4D97-AF65-F5344CB8AC3E}">
        <p14:creationId xmlns:p14="http://schemas.microsoft.com/office/powerpoint/2010/main" val="387379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EE940-020A-2555-A9AC-FCE29AF9D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Arbeidskrav</a:t>
            </a:r>
            <a:endParaRPr lang="en-GB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388961A-6A7E-880A-DC85-926335B5E9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FA1B2-A12E-61CB-B6F5-DC17FBBAE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To pass the arbeidskrav…</a:t>
            </a:r>
          </a:p>
          <a:p>
            <a:r>
              <a:rPr lang="en-US" sz="2400"/>
              <a:t>You need to attend at least 80% of the workshops</a:t>
            </a:r>
          </a:p>
          <a:p>
            <a:r>
              <a:rPr lang="en-US" sz="2400"/>
              <a:t>You need to take a test of Python skills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5248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08F0E-FFE5-2326-ED9F-3F1FBB2A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Exam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DBC8-A957-EFD6-F684-B0995FC1C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 fontScale="92500"/>
          </a:bodyPr>
          <a:lstStyle/>
          <a:p>
            <a:r>
              <a:rPr lang="en-US" sz="2400"/>
              <a:t>For the exam you will create a project using data of your choosing</a:t>
            </a:r>
          </a:p>
          <a:p>
            <a:r>
              <a:rPr lang="en-US" sz="2400"/>
              <a:t>The project must…</a:t>
            </a:r>
          </a:p>
          <a:p>
            <a:pPr lvl="1"/>
            <a:r>
              <a:rPr lang="en-US"/>
              <a:t>…be uploaded in an online form</a:t>
            </a:r>
          </a:p>
          <a:p>
            <a:pPr lvl="1"/>
            <a:r>
              <a:rPr lang="en-US"/>
              <a:t>…produce interesting data visualizations</a:t>
            </a:r>
          </a:p>
          <a:p>
            <a:pPr lvl="1"/>
            <a:r>
              <a:rPr lang="en-US"/>
              <a:t>…include documentation</a:t>
            </a:r>
          </a:p>
          <a:p>
            <a:pPr lvl="1"/>
            <a:endParaRPr lang="en-US"/>
          </a:p>
          <a:p>
            <a:r>
              <a:rPr lang="en-US" sz="2400"/>
              <a:t>Much more detail will be provided in a later workshop and on Canvas</a:t>
            </a:r>
            <a:endParaRPr lang="en-GB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69F3F-8FD9-A28D-B817-6D9EA2E83E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5" r="7289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104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D5AFD-33FD-4EB1-A49C-CAEE2761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en-US"/>
              <a:t>Why learn to code?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24FA2-D6AD-C217-0F32-7F74D9A4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3908586"/>
          </a:xfrm>
        </p:spPr>
        <p:txBody>
          <a:bodyPr>
            <a:normAutofit/>
          </a:bodyPr>
          <a:lstStyle/>
          <a:p>
            <a:r>
              <a:rPr lang="en-US" sz="2000"/>
              <a:t>Save time / automate analysis</a:t>
            </a:r>
          </a:p>
          <a:p>
            <a:r>
              <a:rPr lang="en-US" sz="2000"/>
              <a:t>Allow more interesting/sophisticated analysis</a:t>
            </a:r>
          </a:p>
          <a:p>
            <a:r>
              <a:rPr lang="en-US" sz="2000"/>
              <a:t>Open up career prospects</a:t>
            </a:r>
          </a:p>
          <a:p>
            <a:r>
              <a:rPr lang="en-US" sz="2000"/>
              <a:t>It’s fun!</a:t>
            </a:r>
            <a:endParaRPr lang="en-GB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C144E-8BA2-035E-1DC1-EC3041B212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3" r="3" b="2666"/>
          <a:stretch/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7312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D2CA8-77AA-4705-A4A9-1025BC1D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My personal coding history</a:t>
            </a:r>
            <a:endParaRPr lang="en-GB"/>
          </a:p>
        </p:txBody>
      </p:sp>
      <p:pic>
        <p:nvPicPr>
          <p:cNvPr id="5" name="Picture 4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25AF2D5F-07FF-222A-7DF5-0FEEDC9C0D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1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D0E8-73E1-F995-20F8-A788F8174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 lnSpcReduction="10000"/>
          </a:bodyPr>
          <a:lstStyle/>
          <a:p>
            <a:r>
              <a:rPr lang="en-US" sz="2000"/>
              <a:t>Started coding in my postdoc (c. 2008) to speed up tasks that involved a lot of copy-pasting</a:t>
            </a:r>
          </a:p>
          <a:p>
            <a:r>
              <a:rPr lang="en-US" sz="2000"/>
              <a:t>VS Basic (Excel) -&gt; Matlab -&gt; Python</a:t>
            </a:r>
          </a:p>
          <a:p>
            <a:r>
              <a:rPr lang="en-US" sz="2000"/>
              <a:t>Version control (Github) to keep things tidy</a:t>
            </a:r>
          </a:p>
          <a:p>
            <a:r>
              <a:rPr lang="en-US" sz="2000"/>
              <a:t>Use for all graphs and figures</a:t>
            </a:r>
          </a:p>
          <a:p>
            <a:r>
              <a:rPr lang="en-US" sz="2000"/>
              <a:t>Have been teaching students and postdocs in my lab since c. 2015</a:t>
            </a:r>
          </a:p>
          <a:p>
            <a:r>
              <a:rPr lang="en-US" sz="2000"/>
              <a:t>Teaching coding in a class format since 2022 (but also adapting due to e.g., AI agents etc…)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00737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75A4B-B800-2120-0B6D-430EAE9B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Why use Python?</a:t>
            </a:r>
            <a:endParaRPr lang="en-GB"/>
          </a:p>
        </p:txBody>
      </p:sp>
      <p:pic>
        <p:nvPicPr>
          <p:cNvPr id="5" name="Picture 4" descr="A picture containing text, indoor, computer, person&#10;&#10;Description automatically generated">
            <a:extLst>
              <a:ext uri="{FF2B5EF4-FFF2-40B4-BE49-F238E27FC236}">
                <a16:creationId xmlns:a16="http://schemas.microsoft.com/office/drawing/2014/main" id="{A69921F8-4236-AD17-4FA9-86584C9469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1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BCF2-3ED2-2972-0DE1-1AE5674C3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5125056" cy="38436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/>
              <a:t>Advantages</a:t>
            </a:r>
          </a:p>
          <a:p>
            <a:r>
              <a:rPr lang="en-US" sz="2000"/>
              <a:t>Very popular widely used – lots of help online</a:t>
            </a:r>
          </a:p>
          <a:p>
            <a:r>
              <a:rPr lang="en-US" sz="2000"/>
              <a:t>Incredibly flexible</a:t>
            </a:r>
          </a:p>
          <a:p>
            <a:r>
              <a:rPr lang="en-US" sz="2000"/>
              <a:t>Relatively easy (not as strict as other languages)</a:t>
            </a:r>
          </a:p>
          <a:p>
            <a:r>
              <a:rPr lang="en-US" sz="2000"/>
              <a:t>Readable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 b="1"/>
              <a:t>Disadvantages</a:t>
            </a:r>
          </a:p>
          <a:p>
            <a:r>
              <a:rPr lang="en-US" sz="2000"/>
              <a:t>Not as easy to do statistics as R</a:t>
            </a:r>
          </a:p>
          <a:p>
            <a:r>
              <a:rPr lang="en-US" sz="2000"/>
              <a:t>Not as fast for big computations as some other languages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15379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80784-1CFC-F5A0-475A-1B83BE0B4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Pensum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F521E-21C6-9456-8D94-A14649B2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48" y="2273478"/>
            <a:ext cx="7478121" cy="1734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6D6DD-392C-078A-D8CC-483573A2D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133" y="1093890"/>
            <a:ext cx="3606583" cy="46702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41B93F-BBEA-56A5-28AE-3850A313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56" y="4008329"/>
            <a:ext cx="7487695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2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90F10-B63C-0D3C-3467-0840C1648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053" y="0"/>
            <a:ext cx="6860546" cy="6413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A8447A-D4AE-484B-A871-CA51EE151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4" y="6413119"/>
            <a:ext cx="4162816" cy="44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6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91C5-49CE-F8CA-DF21-82179D3F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ChatGPT (and other AI tools)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1467-26E0-D075-DA4A-7AE7248F4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Has replaced Stack Overflow as the best simple source of coding advice</a:t>
            </a:r>
          </a:p>
          <a:p>
            <a:r>
              <a:rPr lang="en-US"/>
              <a:t>You still need to know how to code to make sure it is doing what you want it to but it can save a lot of time</a:t>
            </a:r>
          </a:p>
          <a:p>
            <a:r>
              <a:rPr lang="en-US"/>
              <a:t>Use it iteratively – if it doesn’t give you what you want first time, ask it again, or tell it what is wrong</a:t>
            </a:r>
          </a:p>
          <a:p>
            <a:r>
              <a:rPr lang="en-US"/>
              <a:t>Github Copilot is better than vanilla ChatGPT and can interact directly with your code – can get it free as a UiT student by signing up to Github Education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090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254B3068-6C5B-68BC-5387-DFAF01090A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36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98876-94DF-6EF5-F89D-515E3259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  <a:latin typeface="Gameplay" panose="00000400000000000000" pitchFamily="2" charset="0"/>
              </a:rPr>
              <a:t>COFFEE TIME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46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2815E-30C9-10A2-5750-806E1BC9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4970877" cy="1135737"/>
          </a:xfrm>
        </p:spPr>
        <p:txBody>
          <a:bodyPr>
            <a:normAutofit/>
          </a:bodyPr>
          <a:lstStyle/>
          <a:p>
            <a:r>
              <a:rPr lang="en-US" sz="3600"/>
              <a:t>Installing Anaconda</a:t>
            </a:r>
            <a:endParaRPr lang="en-GB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7B06-E361-CEBF-3485-7A47A5734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4970877" cy="4393982"/>
          </a:xfrm>
        </p:spPr>
        <p:txBody>
          <a:bodyPr>
            <a:normAutofit/>
          </a:bodyPr>
          <a:lstStyle/>
          <a:p>
            <a:r>
              <a:rPr lang="en-US" sz="2000"/>
              <a:t>Anaconda is a distribution of Python that includes Python and some other useful tools</a:t>
            </a:r>
          </a:p>
          <a:p>
            <a:pPr lvl="1"/>
            <a:r>
              <a:rPr lang="en-US" sz="2000"/>
              <a:t>Jupyter Notebook / Jupyter Lab</a:t>
            </a:r>
          </a:p>
          <a:p>
            <a:pPr lvl="1"/>
            <a:r>
              <a:rPr lang="en-US" sz="2000"/>
              <a:t>Spyder</a:t>
            </a:r>
          </a:p>
          <a:p>
            <a:pPr lvl="1"/>
            <a:r>
              <a:rPr lang="en-US" sz="2000"/>
              <a:t>Numpy</a:t>
            </a:r>
          </a:p>
          <a:p>
            <a:pPr lvl="1"/>
            <a:r>
              <a:rPr lang="en-US" sz="2000"/>
              <a:t>Matplotlib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r>
              <a:rPr lang="en-US" sz="2000"/>
              <a:t>An important feature is that it lets you keep different projects organized by creating different environments for different projects</a:t>
            </a:r>
            <a:endParaRPr lang="en-GB" sz="200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DC5D281-4462-C184-3D13-52313ACA8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13" y="2106319"/>
            <a:ext cx="5290720" cy="264536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CBE6EC-46EF-45D9-8E16-DCDC5917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EEDCD65-9740-4F34-BDF1-9C068E053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3DA7FD-5CC0-46D1-9DFB-5BAF6BE2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4653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9663-F8B7-BB34-77FF-3DFB32DF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Steps for installation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0BCF1-A79A-E443-972B-16756DF42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Search for “anaconda install” or go to </a:t>
            </a:r>
            <a:r>
              <a:rPr lang="en-US" sz="2400">
                <a:solidFill>
                  <a:srgbClr val="00B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https://docs.anaconda.com/anaconda/install/index.html</a:t>
            </a:r>
            <a:endParaRPr lang="en-US" sz="2400">
              <a:solidFill>
                <a:srgbClr val="00B050"/>
              </a:solidFill>
            </a:endParaRPr>
          </a:p>
          <a:p>
            <a:endParaRPr lang="en-US" sz="2400"/>
          </a:p>
          <a:p>
            <a:r>
              <a:rPr lang="en-US" sz="2400"/>
              <a:t>Click on the appropriate installation OS, e.g. </a:t>
            </a:r>
            <a:r>
              <a:rPr lang="en-GB" sz="2400" b="0" i="0" u="none" strike="noStrike">
                <a:solidFill>
                  <a:srgbClr val="00B050"/>
                </a:solidFill>
                <a:effectLst/>
                <a:latin typeface="Proxima Nov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Installing on Windows</a:t>
            </a:r>
            <a:endParaRPr lang="en-GB" sz="2400" b="0" i="0" u="none" strike="noStrike">
              <a:solidFill>
                <a:srgbClr val="00B050"/>
              </a:solidFill>
              <a:effectLst/>
              <a:latin typeface="Proxima Nova"/>
            </a:endParaRPr>
          </a:p>
          <a:p>
            <a:endParaRPr lang="en-GB" sz="2400">
              <a:solidFill>
                <a:srgbClr val="047704"/>
              </a:solidFill>
              <a:latin typeface="Proxima Nova"/>
            </a:endParaRPr>
          </a:p>
          <a:p>
            <a:r>
              <a:rPr lang="en-GB" sz="2400"/>
              <a:t>Download the </a:t>
            </a:r>
            <a:r>
              <a:rPr lang="en-GB" sz="2400">
                <a:solidFill>
                  <a:srgbClr val="00B050"/>
                </a:solidFill>
              </a:rPr>
              <a:t>Anaconda installer</a:t>
            </a:r>
            <a:r>
              <a:rPr lang="en-GB" sz="2400">
                <a:solidFill>
                  <a:schemeClr val="accent1"/>
                </a:solidFill>
              </a:rPr>
              <a:t> </a:t>
            </a:r>
            <a:r>
              <a:rPr lang="en-GB" sz="2400"/>
              <a:t>and follow instructions</a:t>
            </a:r>
          </a:p>
          <a:p>
            <a:endParaRPr lang="en-GB" sz="2400"/>
          </a:p>
          <a:p>
            <a:r>
              <a:rPr lang="en-GB" sz="2400"/>
              <a:t>Do </a:t>
            </a:r>
            <a:r>
              <a:rPr lang="en-GB" sz="2400" u="sng"/>
              <a:t>NOT</a:t>
            </a:r>
            <a:r>
              <a:rPr lang="en-GB" sz="2400"/>
              <a:t> install as Administrator</a:t>
            </a:r>
          </a:p>
          <a:p>
            <a:endParaRPr lang="en-US" sz="2400"/>
          </a:p>
          <a:p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F0EE5378-7E63-E8A6-0B51-9D77DB33C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299" y="4738325"/>
            <a:ext cx="3659891" cy="182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61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15EA-D6A5-97A4-B69B-E16D9757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IDEs and Notebooks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A0F60-5C18-A329-EB7F-316EED8F0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IDE (Integrated Developer Environment)</a:t>
            </a:r>
          </a:p>
          <a:p>
            <a:pPr lvl="1"/>
            <a:r>
              <a:rPr lang="nb-NO"/>
              <a:t>Makes it easy to write and organize your code</a:t>
            </a:r>
          </a:p>
          <a:p>
            <a:pPr lvl="1"/>
            <a:r>
              <a:rPr lang="nb-NO">
                <a:solidFill>
                  <a:srgbClr val="FF0000"/>
                </a:solidFill>
              </a:rPr>
              <a:t>Spyder</a:t>
            </a:r>
            <a:r>
              <a:rPr lang="nb-NO"/>
              <a:t> is the one that comes bundled with Anaconda</a:t>
            </a:r>
          </a:p>
          <a:p>
            <a:pPr lvl="1"/>
            <a:r>
              <a:rPr lang="nb-NO">
                <a:solidFill>
                  <a:schemeClr val="accent1"/>
                </a:solidFill>
              </a:rPr>
              <a:t>Visual Studio Code </a:t>
            </a:r>
            <a:r>
              <a:rPr lang="nb-NO"/>
              <a:t>is my favourite</a:t>
            </a:r>
          </a:p>
          <a:p>
            <a:pPr lvl="1"/>
            <a:r>
              <a:rPr lang="nb-NO"/>
              <a:t>Others available e.g., PyCharm, Rstudio (for R)</a:t>
            </a:r>
          </a:p>
          <a:p>
            <a:pPr lvl="1"/>
            <a:endParaRPr lang="nb-NO"/>
          </a:p>
          <a:p>
            <a:r>
              <a:rPr lang="nb-NO"/>
              <a:t>Notebooks</a:t>
            </a:r>
          </a:p>
          <a:p>
            <a:pPr lvl="1"/>
            <a:r>
              <a:rPr lang="nb-NO">
                <a:solidFill>
                  <a:srgbClr val="FFC000"/>
                </a:solidFill>
              </a:rPr>
              <a:t>Jupyter Notebook </a:t>
            </a:r>
            <a:r>
              <a:rPr lang="nb-NO"/>
              <a:t>(and Jupyter Labs) is bundled with Anaconda</a:t>
            </a:r>
          </a:p>
          <a:p>
            <a:pPr lvl="1"/>
            <a:r>
              <a:rPr lang="nb-NO"/>
              <a:t>Allow you to run code in «cells» (e.g. one block at a time)</a:t>
            </a:r>
          </a:p>
          <a:p>
            <a:pPr lvl="1"/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702B3C-EF8C-113D-5C6B-10834C331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074" y="420485"/>
            <a:ext cx="1827291" cy="199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4313F04-F63C-4FB7-DBCD-6D1D5CEE0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790" y="4379153"/>
            <a:ext cx="1823575" cy="211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5 Visual Studio Code Extensions Developers Need in 2020 | by Srikar ...">
            <a:extLst>
              <a:ext uri="{FF2B5EF4-FFF2-40B4-BE49-F238E27FC236}">
                <a16:creationId xmlns:a16="http://schemas.microsoft.com/office/drawing/2014/main" id="{0B23B45E-978D-8973-79C0-C245D0A14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266" y="2478847"/>
            <a:ext cx="3348624" cy="188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842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657</Words>
  <Application>Microsoft Office PowerPoint</Application>
  <PresentationFormat>Widescreen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 Light</vt:lpstr>
      <vt:lpstr>Arial</vt:lpstr>
      <vt:lpstr>Proxima Nova</vt:lpstr>
      <vt:lpstr>Gameplay</vt:lpstr>
      <vt:lpstr>Calibri</vt:lpstr>
      <vt:lpstr>Office Theme</vt:lpstr>
      <vt:lpstr>Programming and Data Visualization for Researchers PSY-3035 HEL-8048 </vt:lpstr>
      <vt:lpstr>Format and expectations</vt:lpstr>
      <vt:lpstr>Canvas</vt:lpstr>
      <vt:lpstr>Datacamp</vt:lpstr>
      <vt:lpstr>Software Carpentry</vt:lpstr>
      <vt:lpstr>Arbeidskrav</vt:lpstr>
      <vt:lpstr>Exam</vt:lpstr>
      <vt:lpstr>Why learn to code?</vt:lpstr>
      <vt:lpstr>My personal coding history</vt:lpstr>
      <vt:lpstr>Why use Python?</vt:lpstr>
      <vt:lpstr>Pensum</vt:lpstr>
      <vt:lpstr>PowerPoint Presentation</vt:lpstr>
      <vt:lpstr>ChatGPT (and other AI tools)</vt:lpstr>
      <vt:lpstr>COFFEE TIME</vt:lpstr>
      <vt:lpstr>Installing Anaconda</vt:lpstr>
      <vt:lpstr>Steps for installation</vt:lpstr>
      <vt:lpstr>IDEs and Notebooks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and Data Visualization for Researchers PSY-3035</dc:title>
  <dc:creator>James Edgar McCutcheon</dc:creator>
  <cp:lastModifiedBy>James Edgar McCutcheon</cp:lastModifiedBy>
  <cp:revision>9</cp:revision>
  <dcterms:created xsi:type="dcterms:W3CDTF">2023-01-16T13:25:33Z</dcterms:created>
  <dcterms:modified xsi:type="dcterms:W3CDTF">2026-08-24T09:04:51Z</dcterms:modified>
</cp:coreProperties>
</file>